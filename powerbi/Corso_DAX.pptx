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6"/>
  </p:notesMasterIdLst>
  <p:sldIdLst>
    <p:sldId id="256" r:id="rId2"/>
    <p:sldId id="454" r:id="rId3"/>
    <p:sldId id="656" r:id="rId4"/>
    <p:sldId id="657" r:id="rId5"/>
    <p:sldId id="658" r:id="rId6"/>
    <p:sldId id="659" r:id="rId7"/>
    <p:sldId id="660" r:id="rId8"/>
    <p:sldId id="661" r:id="rId9"/>
    <p:sldId id="662" r:id="rId10"/>
    <p:sldId id="663" r:id="rId11"/>
    <p:sldId id="664" r:id="rId12"/>
    <p:sldId id="665" r:id="rId13"/>
    <p:sldId id="667" r:id="rId14"/>
    <p:sldId id="668" r:id="rId15"/>
    <p:sldId id="669" r:id="rId16"/>
    <p:sldId id="670" r:id="rId17"/>
    <p:sldId id="671" r:id="rId18"/>
    <p:sldId id="672" r:id="rId19"/>
    <p:sldId id="673" r:id="rId20"/>
    <p:sldId id="674" r:id="rId21"/>
    <p:sldId id="701" r:id="rId22"/>
    <p:sldId id="702" r:id="rId23"/>
    <p:sldId id="703" r:id="rId24"/>
    <p:sldId id="704" r:id="rId25"/>
    <p:sldId id="705" r:id="rId26"/>
    <p:sldId id="706" r:id="rId27"/>
    <p:sldId id="707" r:id="rId28"/>
    <p:sldId id="708" r:id="rId29"/>
    <p:sldId id="709" r:id="rId30"/>
    <p:sldId id="710" r:id="rId31"/>
    <p:sldId id="711" r:id="rId32"/>
    <p:sldId id="712" r:id="rId33"/>
    <p:sldId id="713" r:id="rId34"/>
    <p:sldId id="714" r:id="rId35"/>
    <p:sldId id="715" r:id="rId36"/>
    <p:sldId id="716" r:id="rId37"/>
    <p:sldId id="717" r:id="rId38"/>
    <p:sldId id="718" r:id="rId39"/>
    <p:sldId id="719" r:id="rId40"/>
    <p:sldId id="720" r:id="rId41"/>
    <p:sldId id="721" r:id="rId42"/>
    <p:sldId id="722" r:id="rId43"/>
    <p:sldId id="723" r:id="rId44"/>
    <p:sldId id="724" r:id="rId45"/>
    <p:sldId id="725" r:id="rId46"/>
    <p:sldId id="726" r:id="rId47"/>
    <p:sldId id="727" r:id="rId48"/>
    <p:sldId id="728" r:id="rId49"/>
    <p:sldId id="729" r:id="rId50"/>
    <p:sldId id="730" r:id="rId51"/>
    <p:sldId id="731" r:id="rId52"/>
    <p:sldId id="732" r:id="rId53"/>
    <p:sldId id="733" r:id="rId54"/>
    <p:sldId id="734" r:id="rId55"/>
    <p:sldId id="735" r:id="rId56"/>
    <p:sldId id="736" r:id="rId57"/>
    <p:sldId id="737" r:id="rId58"/>
    <p:sldId id="738" r:id="rId59"/>
    <p:sldId id="739" r:id="rId60"/>
    <p:sldId id="740" r:id="rId61"/>
    <p:sldId id="741" r:id="rId62"/>
    <p:sldId id="742" r:id="rId63"/>
    <p:sldId id="743" r:id="rId64"/>
    <p:sldId id="744" r:id="rId65"/>
    <p:sldId id="745" r:id="rId66"/>
    <p:sldId id="746" r:id="rId67"/>
    <p:sldId id="747" r:id="rId68"/>
    <p:sldId id="748" r:id="rId69"/>
    <p:sldId id="749" r:id="rId70"/>
    <p:sldId id="750" r:id="rId71"/>
    <p:sldId id="751" r:id="rId72"/>
    <p:sldId id="752" r:id="rId73"/>
    <p:sldId id="753" r:id="rId74"/>
    <p:sldId id="754" r:id="rId75"/>
    <p:sldId id="755" r:id="rId76"/>
    <p:sldId id="756" r:id="rId77"/>
    <p:sldId id="757" r:id="rId78"/>
    <p:sldId id="758" r:id="rId79"/>
    <p:sldId id="759" r:id="rId80"/>
    <p:sldId id="760" r:id="rId81"/>
    <p:sldId id="761" r:id="rId82"/>
    <p:sldId id="762" r:id="rId83"/>
    <p:sldId id="763" r:id="rId84"/>
    <p:sldId id="764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>
        <p:scale>
          <a:sx n="75" d="100"/>
          <a:sy n="75" d="100"/>
        </p:scale>
        <p:origin x="135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23D4C-9E2B-40EA-B17B-142079337BD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F39D1-0635-4618-A766-FC952C9E04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7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10DF-B555-4D30-B35E-2297D59E32D0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34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F1F9-9322-493A-A9EE-BB75692CE5F5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97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DE51-4D5E-4D23-8181-86A5B05D5351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6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9FCA-87F3-427A-B1A2-15346103C68A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4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F709-7E2D-49E6-A629-D8E3363D194F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1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0A921-9375-4BAA-A7C2-7975528669FA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4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5425-F285-48AE-A409-A618E3EEA628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3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A94D-7D6A-4378-93F6-A3A33186E34B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4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FC0F9-687B-4417-9D77-CE2D7AD8C321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88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D79F-E600-4AC1-A639-0B9FB8286C38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8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F5D60-A842-4D08-9D7D-A7A57AB501A2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8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</a:extLst>
            </p:cNvPr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</a:extLst>
            </p:cNvPr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0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</a:extLst>
            </p:cNvPr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1" name="Oval 20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</a:extLst>
            </p:cNvPr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</a:extLst>
            </p:cNvPr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</a:extLst>
            </p:cNvPr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DFD30-2122-4F4A-97B4-D0A849E36C5F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D71E-5CDF-4C93-8A75-5B916FDC5B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0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28" y="-19456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A53325A-EC38-99E7-A981-A27A55DE5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2051" y="3824936"/>
            <a:ext cx="6934199" cy="1984866"/>
          </a:xfrm>
        </p:spPr>
        <p:txBody>
          <a:bodyPr anchor="b">
            <a:noAutofit/>
          </a:bodyPr>
          <a:lstStyle/>
          <a:p>
            <a:pPr algn="l"/>
            <a:br>
              <a:rPr lang="it-IT" sz="8800" b="1" dirty="0"/>
            </a:br>
            <a:r>
              <a:rPr lang="it-IT" sz="8800" b="1" dirty="0"/>
              <a:t>Power BI </a:t>
            </a:r>
            <a:endParaRPr lang="en-US" sz="8800" b="1" dirty="0"/>
          </a:p>
        </p:txBody>
      </p:sp>
      <p:sp useBgFill="1">
        <p:nvSpPr>
          <p:cNvPr id="20" name="Graphic 10">
            <a:extLst>
              <a:ext uri="{FF2B5EF4-FFF2-40B4-BE49-F238E27FC236}">
                <a16:creationId xmlns:a16="http://schemas.microsoft.com/office/drawing/2014/main" id="{704F7EEF-CBB8-414E-AEB9-E8DFC3689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766717" y="5348577"/>
            <a:ext cx="1174169" cy="1174169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1" name="Oval 14">
            <a:extLst>
              <a:ext uri="{FF2B5EF4-FFF2-40B4-BE49-F238E27FC236}">
                <a16:creationId xmlns:a16="http://schemas.microsoft.com/office/drawing/2014/main" id="{2CA7C088-CD39-49F8-BB37-5E16EFFF4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0267771" y="5421922"/>
            <a:ext cx="388723" cy="388723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2" name="Picture 3" descr="Sfondo con poligoni interconnessi">
            <a:extLst>
              <a:ext uri="{FF2B5EF4-FFF2-40B4-BE49-F238E27FC236}">
                <a16:creationId xmlns:a16="http://schemas.microsoft.com/office/drawing/2014/main" id="{3CEF3275-9126-4E77-AE5D-F06D60B97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07" r="21836" b="-2"/>
          <a:stretch/>
        </p:blipFill>
        <p:spPr>
          <a:xfrm>
            <a:off x="-3566467" y="-19456"/>
            <a:ext cx="6088065" cy="6858000"/>
          </a:xfrm>
          <a:prstGeom prst="rect">
            <a:avLst/>
          </a:prstGeom>
        </p:spPr>
      </p:pic>
      <p:sp useBgFill="1">
        <p:nvSpPr>
          <p:cNvPr id="17" name="Oval 16">
            <a:extLst>
              <a:ext uri="{FF2B5EF4-FFF2-40B4-BE49-F238E27FC236}">
                <a16:creationId xmlns:a16="http://schemas.microsoft.com/office/drawing/2014/main" id="{528C5F7D-50EC-4C32-B535-6E2B9D1FC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5901638" y="457200"/>
            <a:ext cx="388723" cy="388723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5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A76D-D194-B28B-2601-16593688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4E4E79-E24C-9233-6E74-29A399E13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96326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Cos'è Power BI?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756EBCE6-011A-A066-A9F5-42A7994F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5" y="1135365"/>
            <a:ext cx="11650825" cy="55667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2400" b="1" dirty="0"/>
              <a:t>Power BI</a:t>
            </a:r>
            <a:r>
              <a:rPr lang="it-IT" sz="2400" dirty="0"/>
              <a:t> è uno strumento di </a:t>
            </a:r>
            <a:r>
              <a:rPr lang="it-IT" sz="2400" b="1" dirty="0"/>
              <a:t>Business Intelligence (BI)</a:t>
            </a:r>
            <a:r>
              <a:rPr lang="it-IT" sz="2400" dirty="0"/>
              <a:t>, serve cioè a trasformare dati grezzi in informazioni.</a:t>
            </a:r>
          </a:p>
          <a:p>
            <a:pPr marL="0" indent="0">
              <a:buNone/>
            </a:pPr>
            <a:endParaRPr lang="it-IT" sz="1700" dirty="0"/>
          </a:p>
          <a:p>
            <a:pPr marL="0" indent="0">
              <a:buNone/>
            </a:pPr>
            <a:r>
              <a:rPr lang="it-IT" sz="2400" dirty="0"/>
              <a:t>Quattro componenti fondamentali: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b="1" dirty="0"/>
              <a:t>Power Query</a:t>
            </a:r>
            <a:br>
              <a:rPr lang="it-IT" sz="2400" dirty="0"/>
            </a:br>
            <a:r>
              <a:rPr lang="it-IT" sz="2400" dirty="0"/>
              <a:t>Modulo per </a:t>
            </a:r>
            <a:r>
              <a:rPr lang="it-IT" sz="2400" b="1" dirty="0"/>
              <a:t>acquisire</a:t>
            </a:r>
            <a:r>
              <a:rPr lang="it-IT" sz="2400" dirty="0"/>
              <a:t>, </a:t>
            </a:r>
            <a:r>
              <a:rPr lang="it-IT" sz="2400" b="1" dirty="0"/>
              <a:t>trasformare</a:t>
            </a:r>
            <a:r>
              <a:rPr lang="it-IT" sz="2400" dirty="0"/>
              <a:t> e </a:t>
            </a:r>
            <a:r>
              <a:rPr lang="it-IT" sz="2400" b="1" dirty="0"/>
              <a:t>pulire i dati</a:t>
            </a:r>
            <a:r>
              <a:rPr lang="it-IT" sz="2400" dirty="0"/>
              <a:t> da fonti eterogenee 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t-IT" sz="10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b="1" dirty="0"/>
              <a:t>Modellazione dei dati</a:t>
            </a:r>
            <a:br>
              <a:rPr lang="it-IT" sz="2400" dirty="0"/>
            </a:br>
            <a:r>
              <a:rPr lang="it-IT" sz="2400" dirty="0"/>
              <a:t>Costruzione di relazioni tra tabelle, creazione di colonne calcolate, misure (DAX), gerarchie e logica di business.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t-IT" sz="11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b="1" dirty="0"/>
              <a:t>Visualizzazione dei dati</a:t>
            </a:r>
            <a:br>
              <a:rPr lang="it-IT" sz="2400" dirty="0"/>
            </a:br>
            <a:r>
              <a:rPr lang="it-IT" sz="2400" dirty="0"/>
              <a:t>Creazione di dashboard e report interattivi, con grafici, tabelle, filtri e KPI personalizzati.</a:t>
            </a:r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t-IT" sz="11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b="1" dirty="0"/>
              <a:t>Power BI Service</a:t>
            </a:r>
          </a:p>
          <a:p>
            <a:pPr marL="0" indent="0">
              <a:buClr>
                <a:schemeClr val="accent6"/>
              </a:buClr>
              <a:buNone/>
            </a:pPr>
            <a:r>
              <a:rPr lang="it-IT" sz="2400" dirty="0"/>
              <a:t>   Per pubblicare, aggiornare, condividere e collaborare sui report e dashboard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it-IT" sz="2400" dirty="0"/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34560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7B82-E9EC-6C28-CFFC-312412EF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823D8-BD87-C7C8-453F-3638F9C3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8" y="1585732"/>
            <a:ext cx="3948494" cy="2097067"/>
          </a:xfrm>
        </p:spPr>
        <p:txBody>
          <a:bodyPr>
            <a:normAutofit fontScale="90000"/>
          </a:bodyPr>
          <a:lstStyle/>
          <a:p>
            <a:r>
              <a:rPr lang="it-IT" sz="4800" b="1" dirty="0"/>
              <a:t>Primi esempi </a:t>
            </a:r>
            <a:br>
              <a:rPr lang="it-IT" sz="4800" b="1" dirty="0"/>
            </a:br>
            <a:r>
              <a:rPr lang="it-IT" sz="4800" b="1" dirty="0"/>
              <a:t>di uso di DAX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74EC5B18-7265-226B-DA81-2FBC07006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FB400-9E49-80FA-16E4-0D172A3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2D2271-646F-454D-2361-C14AAEA7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Acquisizione dati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83C9F01-1116-CA78-EF0A-0B1F92DB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9"/>
            <a:ext cx="10896602" cy="1104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Acquisiamo per il momento soltanto i dati del foglio Fatture del file </a:t>
            </a:r>
            <a:r>
              <a:rPr lang="it-IT" i="1" dirty="0"/>
              <a:t>Dati_input.xlsx</a:t>
            </a:r>
            <a:r>
              <a:rPr lang="it-IT" dirty="0"/>
              <a:t>. F</a:t>
            </a:r>
            <a:r>
              <a:rPr lang="en-US" dirty="0" err="1"/>
              <a:t>acciamo</a:t>
            </a:r>
            <a:r>
              <a:rPr lang="en-US" dirty="0"/>
              <a:t> </a:t>
            </a:r>
            <a:r>
              <a:rPr lang="en-US" dirty="0" err="1"/>
              <a:t>attenzione</a:t>
            </a:r>
            <a:r>
              <a:rPr lang="en-US" dirty="0"/>
              <a:t> come al </a:t>
            </a:r>
            <a:r>
              <a:rPr lang="en-US" dirty="0" err="1"/>
              <a:t>solito</a:t>
            </a:r>
            <a:r>
              <a:rPr lang="en-US" dirty="0"/>
              <a:t> ai tipi.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C070E6D-A294-C8A9-B733-2470EB3D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4" y="2379518"/>
            <a:ext cx="10788171" cy="377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9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1B767-6906-7298-EAB0-8A8956CB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4624D2-107F-239A-31D1-047F6803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6" y="458152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Visualizzazione Tabella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C8751160-EC4F-7CB4-FC5D-4870E017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4" y="1143000"/>
            <a:ext cx="11650825" cy="1294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Diamo un'occhiata alla tabella importata tramite Power Query. Modifichiamone il nome e notiamo che i dati non sono ordinati (a meno di non impostare l'ordine  usando il tasto destro su una determinata colonna).</a:t>
            </a:r>
            <a:endParaRPr lang="it-IT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0E19BF0-CBB8-C7CC-919B-6E62B5AA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9" y="2499673"/>
            <a:ext cx="10599577" cy="3566368"/>
          </a:xfrm>
          <a:prstGeom prst="rect">
            <a:avLst/>
          </a:prstGeom>
        </p:spPr>
      </p:pic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844DAD17-5A69-977F-0A8A-8ED6B6B4D223}"/>
              </a:ext>
            </a:extLst>
          </p:cNvPr>
          <p:cNvSpPr/>
          <p:nvPr/>
        </p:nvSpPr>
        <p:spPr>
          <a:xfrm rot="15384056">
            <a:off x="601712" y="4314030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5DA5AEB2-8DAB-F3FB-877B-B602CA303793}"/>
              </a:ext>
            </a:extLst>
          </p:cNvPr>
          <p:cNvSpPr/>
          <p:nvPr/>
        </p:nvSpPr>
        <p:spPr>
          <a:xfrm rot="13446051">
            <a:off x="1699684" y="3305291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68025591-18BF-C49B-4122-99BCFFE95EB6}"/>
              </a:ext>
            </a:extLst>
          </p:cNvPr>
          <p:cNvSpPr/>
          <p:nvPr/>
        </p:nvSpPr>
        <p:spPr>
          <a:xfrm rot="3243681">
            <a:off x="8656236" y="3470265"/>
            <a:ext cx="94654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C3CE476-F909-A9BB-79E1-DE99DE82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1" y="2562019"/>
            <a:ext cx="10599577" cy="3566368"/>
          </a:xfrm>
          <a:prstGeom prst="rect">
            <a:avLst/>
          </a:prstGeom>
        </p:spPr>
      </p:pic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E0D70148-EC46-3D63-B11A-62BECA98FD14}"/>
              </a:ext>
            </a:extLst>
          </p:cNvPr>
          <p:cNvSpPr/>
          <p:nvPr/>
        </p:nvSpPr>
        <p:spPr>
          <a:xfrm rot="15384056">
            <a:off x="622494" y="4376376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DC0C2968-B431-F3E0-A46C-4A132F273D30}"/>
              </a:ext>
            </a:extLst>
          </p:cNvPr>
          <p:cNvSpPr/>
          <p:nvPr/>
        </p:nvSpPr>
        <p:spPr>
          <a:xfrm rot="13446051">
            <a:off x="1720466" y="3367637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367C98E6-5285-2A27-9277-2D1DCF19E729}"/>
              </a:ext>
            </a:extLst>
          </p:cNvPr>
          <p:cNvSpPr/>
          <p:nvPr/>
        </p:nvSpPr>
        <p:spPr>
          <a:xfrm rot="3243681">
            <a:off x="8677018" y="3532611"/>
            <a:ext cx="94654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6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5441-2E61-D833-D444-67A9E74F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CF95103B-F9A5-2217-5745-9F8C3496D6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0" y="2286655"/>
            <a:ext cx="11293819" cy="364267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05E96F3-578F-B311-E711-C8C01FD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82262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Primi passi con DAX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3B01958A-48E1-FA6A-C7BC-409E2A95E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5" y="1312400"/>
            <a:ext cx="10515600" cy="610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Creiamo una prima colonna con il linguaggio DAX.</a:t>
            </a:r>
            <a:endParaRPr lang="it-IT" sz="2400" dirty="0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08C7CD25-89B1-EDAD-3FA2-865523C86EB9}"/>
              </a:ext>
            </a:extLst>
          </p:cNvPr>
          <p:cNvSpPr/>
          <p:nvPr/>
        </p:nvSpPr>
        <p:spPr>
          <a:xfrm rot="14457713">
            <a:off x="10642242" y="4324340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DEA90B7A-EA1D-9E7F-8C09-B4BF6A88B066}"/>
              </a:ext>
            </a:extLst>
          </p:cNvPr>
          <p:cNvSpPr/>
          <p:nvPr/>
        </p:nvSpPr>
        <p:spPr>
          <a:xfrm rot="15085619">
            <a:off x="2936434" y="3869002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661ADA37-BACA-7316-1B17-0786C65E617D}"/>
              </a:ext>
            </a:extLst>
          </p:cNvPr>
          <p:cNvSpPr/>
          <p:nvPr/>
        </p:nvSpPr>
        <p:spPr>
          <a:xfrm rot="8789979">
            <a:off x="9716108" y="2279826"/>
            <a:ext cx="94654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3E10-C787-8C1E-FC88-A04DDF18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557C5D-E4BF-012C-8412-D1FAA853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82262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Proviamo a creare altre colonne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92B9220C-F8E9-E771-B044-2BFD5D8E0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4" y="1312399"/>
            <a:ext cx="11193627" cy="5331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Ecco alcune formule d'esempio per creare colonne calcolate con DAX</a:t>
            </a:r>
          </a:p>
          <a:p>
            <a:pPr marL="0" indent="0">
              <a:buNone/>
            </a:pPr>
            <a:endParaRPr lang="pt-BR" sz="12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 err="1"/>
              <a:t>ImportoNetto</a:t>
            </a:r>
            <a:r>
              <a:rPr lang="it-IT" sz="2400" dirty="0"/>
              <a:t> = </a:t>
            </a:r>
            <a:r>
              <a:rPr lang="it-IT" sz="2400" dirty="0" err="1"/>
              <a:t>TBL_Fatture</a:t>
            </a:r>
            <a:r>
              <a:rPr lang="it-IT" sz="2400" dirty="0"/>
              <a:t>[Importo]-</a:t>
            </a:r>
            <a:r>
              <a:rPr lang="it-IT" sz="2400" dirty="0" err="1"/>
              <a:t>TBL_Fatture</a:t>
            </a:r>
            <a:r>
              <a:rPr lang="it-IT" sz="2400" dirty="0"/>
              <a:t>[Commissione] 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it-IT" sz="24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 err="1"/>
              <a:t>ImportoIncrementato</a:t>
            </a:r>
            <a:r>
              <a:rPr lang="it-IT" sz="2400" dirty="0"/>
              <a:t> = </a:t>
            </a:r>
            <a:r>
              <a:rPr lang="it-IT" sz="2400" dirty="0" err="1"/>
              <a:t>TBL_Fatture</a:t>
            </a:r>
            <a:r>
              <a:rPr lang="it-IT" sz="2400" dirty="0"/>
              <a:t>[Importo] * 1.10</a:t>
            </a:r>
          </a:p>
          <a:p>
            <a:pPr marL="0" indent="0">
              <a:buClr>
                <a:schemeClr val="tx2"/>
              </a:buClr>
              <a:buNone/>
            </a:pPr>
            <a:endParaRPr lang="en-US" sz="12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 err="1"/>
              <a:t>ImpattoCommissioni</a:t>
            </a:r>
            <a:r>
              <a:rPr lang="it-IT" sz="2400" dirty="0"/>
              <a:t> = DIVIDE(</a:t>
            </a:r>
            <a:r>
              <a:rPr lang="it-IT" sz="2400" dirty="0" err="1"/>
              <a:t>TBL_Fatture</a:t>
            </a:r>
            <a:r>
              <a:rPr lang="it-IT" sz="2400" dirty="0"/>
              <a:t>[Commissione],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it-IT" sz="2400" dirty="0"/>
              <a:t>					</a:t>
            </a:r>
            <a:r>
              <a:rPr lang="it-IT" sz="2400" dirty="0" err="1"/>
              <a:t>TBL_Fatture</a:t>
            </a:r>
            <a:r>
              <a:rPr lang="it-IT" sz="2400" dirty="0"/>
              <a:t>[Importo])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it-IT" sz="2400" dirty="0"/>
          </a:p>
          <a:p>
            <a:pPr marL="0" indent="0">
              <a:buClr>
                <a:schemeClr val="tx2"/>
              </a:buClr>
              <a:buNone/>
            </a:pPr>
            <a:endParaRPr lang="it-IT" sz="1200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765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395BC-7454-B8A4-E91F-0FF9E201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F322179-8C99-65AF-F416-D6E7C814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4" y="2222560"/>
            <a:ext cx="11193628" cy="356863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C7D5D16-A78F-7C50-42E1-48EE19C9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82262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Possiamo creare anche altre tabelle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939AC97B-F127-2588-823E-DABD955E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4" y="1312400"/>
            <a:ext cx="11193627" cy="745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In questo esempio usiamo la formula Filter per creare una nuova tabella nel modello.</a:t>
            </a:r>
          </a:p>
          <a:p>
            <a:pPr marL="0" indent="0">
              <a:buNone/>
            </a:pPr>
            <a:endParaRPr lang="pt-BR" sz="1200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908EC512-F38B-870B-FF92-C42E26FC6ED2}"/>
              </a:ext>
            </a:extLst>
          </p:cNvPr>
          <p:cNvSpPr/>
          <p:nvPr/>
        </p:nvSpPr>
        <p:spPr>
          <a:xfrm rot="15321187">
            <a:off x="2249598" y="3509542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5CB179BC-8085-C4EB-E4D8-9C6A5BDB5DD6}"/>
              </a:ext>
            </a:extLst>
          </p:cNvPr>
          <p:cNvSpPr/>
          <p:nvPr/>
        </p:nvSpPr>
        <p:spPr>
          <a:xfrm rot="12068140">
            <a:off x="7538443" y="2570874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EE20CCFC-4C9B-15A1-7BAC-51E5BB6E00F0}"/>
              </a:ext>
            </a:extLst>
          </p:cNvPr>
          <p:cNvSpPr/>
          <p:nvPr/>
        </p:nvSpPr>
        <p:spPr>
          <a:xfrm rot="7139101">
            <a:off x="10592101" y="2991390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7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0409-B186-7B51-46E0-805FC82A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308B46E1-BDEB-631B-8188-6D423BCD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225" y="1837638"/>
            <a:ext cx="8526325" cy="422449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5EF27FD-1296-0D3F-2ECD-A503103B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82262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una tabella </a:t>
            </a:r>
            <a:r>
              <a:rPr lang="it-IT" b="1" i="0" kern="1200" dirty="0" err="1">
                <a:effectLst/>
                <a:latin typeface="+mj-lt"/>
                <a:ea typeface="+mj-ea"/>
                <a:cs typeface="+mj-cs"/>
              </a:rPr>
              <a:t>Calendar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DC3F5599-D634-1704-F425-BCBFC418AF3A}"/>
              </a:ext>
            </a:extLst>
          </p:cNvPr>
          <p:cNvSpPr/>
          <p:nvPr/>
        </p:nvSpPr>
        <p:spPr>
          <a:xfrm rot="12828332">
            <a:off x="3344621" y="4762610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6F810830-E44A-CE33-ABF6-02D5557102EC}"/>
              </a:ext>
            </a:extLst>
          </p:cNvPr>
          <p:cNvSpPr/>
          <p:nvPr/>
        </p:nvSpPr>
        <p:spPr>
          <a:xfrm rot="14904419">
            <a:off x="4869130" y="3882070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6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B9BB-E889-2B84-D5B8-73782CB5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B8F2CA1-2ADC-1BD7-150E-86C0A0FCB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51" y="2507893"/>
            <a:ext cx="9529495" cy="327747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1EB2609-CDF0-4364-1016-81B497F4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82262"/>
            <a:ext cx="11277603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la nostra prima visualizzazione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7917DC18-DAFA-AAD2-BE38-1DDDA6B39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4" y="1312400"/>
            <a:ext cx="11193627" cy="7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Dal tab "Visualizzazione Report", creiamo un </a:t>
            </a:r>
            <a:r>
              <a:rPr lang="it-IT" sz="2400" b="1" dirty="0"/>
              <a:t>Grafico a linee</a:t>
            </a:r>
            <a:endParaRPr lang="it-IT" b="1" dirty="0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E37C67F-441F-978E-1502-8B7663606690}"/>
              </a:ext>
            </a:extLst>
          </p:cNvPr>
          <p:cNvSpPr/>
          <p:nvPr/>
        </p:nvSpPr>
        <p:spPr>
          <a:xfrm rot="13193860">
            <a:off x="1442627" y="3472387"/>
            <a:ext cx="100768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2DB55103-B5F3-06A2-4D73-8C4C2EDFE2A3}"/>
              </a:ext>
            </a:extLst>
          </p:cNvPr>
          <p:cNvSpPr/>
          <p:nvPr/>
        </p:nvSpPr>
        <p:spPr>
          <a:xfrm rot="18660159">
            <a:off x="7896951" y="4418821"/>
            <a:ext cx="929347" cy="456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2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5590-57C0-10AC-7846-A477CE55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3ADC470-C5AC-1580-6E21-BFB7F52FC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223" y="519545"/>
            <a:ext cx="3406435" cy="60355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5E8123F-3E35-8369-8BAB-A1F81C0A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1" y="826305"/>
            <a:ext cx="4419601" cy="14827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Grafico a linee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799D25EF-C425-19C1-1026-4FC14081C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681" y="2649682"/>
            <a:ext cx="5989380" cy="382385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2400" dirty="0"/>
              <a:t>Portiamo la </a:t>
            </a:r>
            <a:r>
              <a:rPr lang="pt-BR" sz="2400" i="1" dirty="0"/>
              <a:t>DataFattura</a:t>
            </a:r>
            <a:r>
              <a:rPr lang="pt-BR" sz="2400" dirty="0"/>
              <a:t> nell'Asse X (con il tasto destra, rimuoviamo la spuntiamo "DataFattura" in luogo di "Gerarchia data").</a:t>
            </a:r>
          </a:p>
          <a:p>
            <a:pPr marL="0" indent="0">
              <a:buNone/>
            </a:pPr>
            <a:r>
              <a:rPr lang="pt-BR" sz="2400" dirty="0"/>
              <a:t>Portiamo l'</a:t>
            </a:r>
            <a:r>
              <a:rPr lang="pt-BR" sz="2400" i="1" dirty="0"/>
              <a:t>Importo</a:t>
            </a:r>
            <a:r>
              <a:rPr lang="pt-BR" sz="2400" dirty="0"/>
              <a:t> nell'Asse Y. </a:t>
            </a:r>
          </a:p>
          <a:p>
            <a:pPr marL="0" indent="0">
              <a:buNone/>
            </a:pPr>
            <a:r>
              <a:rPr lang="pt-BR" sz="2400" dirty="0"/>
              <a:t>Per ogni data potrebbe esserci </a:t>
            </a:r>
            <a:r>
              <a:rPr lang="pt-BR" sz="2400" b="1" dirty="0"/>
              <a:t>più di una fattura associata</a:t>
            </a:r>
            <a:r>
              <a:rPr lang="pt-BR" sz="2400" dirty="0"/>
              <a:t> (e quindi più di un importo). I vari importi relativi alla stessa dati sono aggregati automaticamente con una somma.</a:t>
            </a: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8C311F92-212A-4D44-6E27-2B21951A41C9}"/>
              </a:ext>
            </a:extLst>
          </p:cNvPr>
          <p:cNvSpPr/>
          <p:nvPr/>
        </p:nvSpPr>
        <p:spPr>
          <a:xfrm rot="18954547">
            <a:off x="6759283" y="3392037"/>
            <a:ext cx="509154" cy="9455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4BDDB11-66FF-5766-E176-8BD6D4BDEB9F}"/>
              </a:ext>
            </a:extLst>
          </p:cNvPr>
          <p:cNvSpPr/>
          <p:nvPr/>
        </p:nvSpPr>
        <p:spPr>
          <a:xfrm rot="10800000">
            <a:off x="10598728" y="1831071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5A2A1822-7354-24FA-5FEC-404AB9A924D3}"/>
              </a:ext>
            </a:extLst>
          </p:cNvPr>
          <p:cNvSpPr/>
          <p:nvPr/>
        </p:nvSpPr>
        <p:spPr>
          <a:xfrm rot="10800000">
            <a:off x="10044546" y="5090352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0BF46A3B-D0D7-8E83-2414-C6FBD51F834D}"/>
              </a:ext>
            </a:extLst>
          </p:cNvPr>
          <p:cNvSpPr/>
          <p:nvPr/>
        </p:nvSpPr>
        <p:spPr>
          <a:xfrm rot="8619049">
            <a:off x="10134868" y="3381588"/>
            <a:ext cx="800100" cy="477982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CEE0C931-366E-2B7B-9798-4CD5BBA593DE}"/>
              </a:ext>
            </a:extLst>
          </p:cNvPr>
          <p:cNvSpPr/>
          <p:nvPr/>
        </p:nvSpPr>
        <p:spPr>
          <a:xfrm rot="2479380">
            <a:off x="6667378" y="4982275"/>
            <a:ext cx="800100" cy="477982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5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D5C0-EE13-75CF-6777-6F5C32EA1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A8D52072-C43E-B1B0-40A7-9E67B60B5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274" y="909432"/>
            <a:ext cx="5377045" cy="5256664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7EEC953-8A96-0049-CBF5-8DCB24CE6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1" y="826305"/>
            <a:ext cx="4998028" cy="14827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Misure implicite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D8650099-C04D-FCE0-CD72-C0A1B397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681" y="2649682"/>
            <a:ext cx="5989380" cy="382385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2400" dirty="0"/>
              <a:t>Cliccando con il tasto destro del mouse su "Somma di Importo", ho la possibilità di scegliere metodi di aggregazione differenti.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Tramite il linguaggio DAX potrò implementare anche ulteriori formule molto più complesse.</a:t>
            </a: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D98763B5-8C42-8241-4E25-405D27F5FB45}"/>
              </a:ext>
            </a:extLst>
          </p:cNvPr>
          <p:cNvSpPr/>
          <p:nvPr/>
        </p:nvSpPr>
        <p:spPr>
          <a:xfrm rot="18954547">
            <a:off x="6098484" y="1836266"/>
            <a:ext cx="509154" cy="9455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C353DD36-DDEA-348D-F024-4FC5D78AF0AD}"/>
              </a:ext>
            </a:extLst>
          </p:cNvPr>
          <p:cNvSpPr/>
          <p:nvPr/>
        </p:nvSpPr>
        <p:spPr>
          <a:xfrm rot="10800000">
            <a:off x="10134868" y="4530434"/>
            <a:ext cx="800100" cy="477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31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E58E1-B46A-00DB-01EF-F863372A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5501C6-7F9D-88F0-0244-7D19C641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4" y="381576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lo stesso grafico usando una misura – parte 1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BE8AB6DB-609E-2203-6C5C-B3D22E8CFC65}"/>
              </a:ext>
            </a:extLst>
          </p:cNvPr>
          <p:cNvSpPr/>
          <p:nvPr/>
        </p:nvSpPr>
        <p:spPr>
          <a:xfrm rot="21209153">
            <a:off x="7549476" y="3583633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9599BB14-EFF7-31BE-DC9F-ABA9D6C1CA26}"/>
              </a:ext>
            </a:extLst>
          </p:cNvPr>
          <p:cNvSpPr/>
          <p:nvPr/>
        </p:nvSpPr>
        <p:spPr>
          <a:xfrm rot="12939124">
            <a:off x="9169887" y="2648147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613FF1E0-678F-31AB-E784-42E9826295CC}"/>
              </a:ext>
            </a:extLst>
          </p:cNvPr>
          <p:cNvSpPr/>
          <p:nvPr/>
        </p:nvSpPr>
        <p:spPr>
          <a:xfrm rot="21209153">
            <a:off x="7549475" y="5305062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9F9BD5-BC65-0626-C64B-46860A477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93856"/>
            <a:ext cx="11140751" cy="3804593"/>
          </a:xfrm>
          <a:prstGeom prst="rect">
            <a:avLst/>
          </a:prstGeom>
        </p:spPr>
      </p:pic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AD452ABD-1079-96A2-BAEB-07A18FB741EF}"/>
              </a:ext>
            </a:extLst>
          </p:cNvPr>
          <p:cNvSpPr/>
          <p:nvPr/>
        </p:nvSpPr>
        <p:spPr>
          <a:xfrm rot="6626366">
            <a:off x="10249840" y="2869007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E4B60C61-C33E-FBCF-5FF7-231AC01CFACC}"/>
              </a:ext>
            </a:extLst>
          </p:cNvPr>
          <p:cNvSpPr/>
          <p:nvPr/>
        </p:nvSpPr>
        <p:spPr>
          <a:xfrm rot="15727791">
            <a:off x="2315665" y="3153956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2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4BB7-2A06-40C1-80AD-4E81B0F5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5CB9A8B8-F668-124A-ACD7-F9CFD7F03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5" y="2013189"/>
            <a:ext cx="11686309" cy="402405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51AB95E-BE30-36BD-57C0-5B39B5BF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4" y="381576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lo stesso grafico usando una misura – parte 2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5D915E28-FDE0-34E9-D488-596B5EDB8FD8}"/>
              </a:ext>
            </a:extLst>
          </p:cNvPr>
          <p:cNvSpPr/>
          <p:nvPr/>
        </p:nvSpPr>
        <p:spPr>
          <a:xfrm rot="18178680">
            <a:off x="402111" y="2711059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B6A9B682-EA51-707D-EDA2-FD6B52063F96}"/>
              </a:ext>
            </a:extLst>
          </p:cNvPr>
          <p:cNvSpPr/>
          <p:nvPr/>
        </p:nvSpPr>
        <p:spPr>
          <a:xfrm rot="12939124">
            <a:off x="3538016" y="2417740"/>
            <a:ext cx="929347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1015F042-C887-334F-3850-0558AB0641C8}"/>
              </a:ext>
            </a:extLst>
          </p:cNvPr>
          <p:cNvSpPr/>
          <p:nvPr/>
        </p:nvSpPr>
        <p:spPr>
          <a:xfrm rot="6626366">
            <a:off x="11050989" y="4943784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D5A4A317-2B97-F0B4-0DBA-EC74DE571631}"/>
              </a:ext>
            </a:extLst>
          </p:cNvPr>
          <p:cNvSpPr/>
          <p:nvPr/>
        </p:nvSpPr>
        <p:spPr>
          <a:xfrm rot="15727791">
            <a:off x="2223650" y="3458887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69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5228-30C6-2B54-A72E-6BFD3E26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7623B68-E47D-66AB-75FE-420BB135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4" y="1685078"/>
            <a:ext cx="10599576" cy="494883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92B9E06-C1E7-1007-FC0E-B9A915A2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4" y="307217"/>
            <a:ext cx="11476926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lo stesso grafico usando una misura – parte 3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9468D904-614A-5DDE-53ED-EB137EDCDB24}"/>
              </a:ext>
            </a:extLst>
          </p:cNvPr>
          <p:cNvSpPr/>
          <p:nvPr/>
        </p:nvSpPr>
        <p:spPr>
          <a:xfrm rot="6626366">
            <a:off x="10937925" y="4164467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8CBE7BD6-19AC-075D-E6AD-D98199D63B12}"/>
              </a:ext>
            </a:extLst>
          </p:cNvPr>
          <p:cNvSpPr/>
          <p:nvPr/>
        </p:nvSpPr>
        <p:spPr>
          <a:xfrm rot="1965472">
            <a:off x="7284023" y="5027914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11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7AF7-2F55-A47B-8E1C-AFDD7BF3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134E5E-8708-D26B-5D81-25606B00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336715"/>
            <a:ext cx="11149445" cy="88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una scheda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D723ED3-C6D1-8BC1-3CD8-60CBAA07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74" y="1487145"/>
            <a:ext cx="11574626" cy="745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Riportiamo la colonna calcolata </a:t>
            </a:r>
            <a:r>
              <a:rPr lang="it-IT" sz="2400" i="1" dirty="0" err="1"/>
              <a:t>ImpattoCommissioni</a:t>
            </a:r>
            <a:r>
              <a:rPr lang="it-IT" sz="2400" dirty="0"/>
              <a:t>. Il calcolo ottenuto tramite la somma </a:t>
            </a:r>
            <a:r>
              <a:rPr lang="it-IT" sz="2400" b="1" dirty="0"/>
              <a:t>sarà errato</a:t>
            </a:r>
            <a:r>
              <a:rPr lang="it-IT" sz="2400" dirty="0"/>
              <a:t>.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C941A20-0536-D925-D4DE-7F9D45E4A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439" y="2494073"/>
            <a:ext cx="6503689" cy="4092738"/>
          </a:xfrm>
          <a:prstGeom prst="rect">
            <a:avLst/>
          </a:prstGeom>
        </p:spPr>
      </p:pic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72FFE5E9-F332-712E-9B33-7F4672924768}"/>
              </a:ext>
            </a:extLst>
          </p:cNvPr>
          <p:cNvSpPr/>
          <p:nvPr/>
        </p:nvSpPr>
        <p:spPr>
          <a:xfrm rot="8080525">
            <a:off x="8807789" y="4533188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D3938117-BC3A-6AC6-56E2-2F8AE910C4BD}"/>
              </a:ext>
            </a:extLst>
          </p:cNvPr>
          <p:cNvSpPr/>
          <p:nvPr/>
        </p:nvSpPr>
        <p:spPr>
          <a:xfrm rot="8080525">
            <a:off x="7754845" y="3526258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A11F7987-B8C0-0C06-981B-F90CDA150D0B}"/>
              </a:ext>
            </a:extLst>
          </p:cNvPr>
          <p:cNvSpPr/>
          <p:nvPr/>
        </p:nvSpPr>
        <p:spPr>
          <a:xfrm rot="1577656">
            <a:off x="5658042" y="4902217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0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F3E8-AE97-1949-8FBE-EFF56CD3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A206EB5-B574-70EC-297B-C8764E372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03" y="2933159"/>
            <a:ext cx="11354784" cy="169178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F9C47E2-EB5D-736E-242A-83473E8F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336715"/>
            <a:ext cx="11149445" cy="88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la misura corretta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BC360D4-6CE2-28C4-1B1E-8AB74E4B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74" y="1487145"/>
            <a:ext cx="11574626" cy="745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Creiamo una misura per effettuare la divisione tra la somma delle </a:t>
            </a:r>
            <a:r>
              <a:rPr lang="it-IT" sz="2400" i="1" dirty="0"/>
              <a:t>commissioni</a:t>
            </a:r>
            <a:r>
              <a:rPr lang="it-IT" sz="2400" dirty="0"/>
              <a:t> e la somma degli </a:t>
            </a:r>
            <a:r>
              <a:rPr lang="it-IT" sz="2400" i="1" dirty="0"/>
              <a:t>importi</a:t>
            </a:r>
            <a:r>
              <a:rPr lang="it-IT" sz="2400" dirty="0"/>
              <a:t>.</a:t>
            </a:r>
            <a:endParaRPr lang="it-IT" dirty="0"/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4329F9A3-AB93-B7E9-5573-9704C9B87143}"/>
              </a:ext>
            </a:extLst>
          </p:cNvPr>
          <p:cNvSpPr/>
          <p:nvPr/>
        </p:nvSpPr>
        <p:spPr>
          <a:xfrm rot="8080525">
            <a:off x="4141052" y="2789319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E1FA195B-7BB9-D92E-9666-63BC9AA3FEAC}"/>
              </a:ext>
            </a:extLst>
          </p:cNvPr>
          <p:cNvSpPr/>
          <p:nvPr/>
        </p:nvSpPr>
        <p:spPr>
          <a:xfrm rot="8080525">
            <a:off x="9886354" y="2334799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56407E1C-B200-8816-DABA-00E33B44ED23}"/>
              </a:ext>
            </a:extLst>
          </p:cNvPr>
          <p:cNvSpPr/>
          <p:nvPr/>
        </p:nvSpPr>
        <p:spPr>
          <a:xfrm rot="18831862">
            <a:off x="2324661" y="4535659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1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8EBB-7BC5-9600-DB3C-87913EF5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C5A4751-6048-614E-7BF9-0A2F88B8A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02" y="1487144"/>
            <a:ext cx="7780196" cy="499593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606F114-0C02-9469-CD29-90C26B41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9" y="177496"/>
            <a:ext cx="11793682" cy="88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la </a:t>
            </a:r>
            <a:r>
              <a:rPr lang="it-IT" b="1" dirty="0"/>
              <a:t>scheda con la misura corretta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9CD20298-9583-7843-8C29-D3DF3CAFAAB9}"/>
              </a:ext>
            </a:extLst>
          </p:cNvPr>
          <p:cNvSpPr/>
          <p:nvPr/>
        </p:nvSpPr>
        <p:spPr>
          <a:xfrm rot="8080525">
            <a:off x="9348117" y="4335759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9F1164D6-FFE2-9950-67E6-34931975DB8D}"/>
              </a:ext>
            </a:extLst>
          </p:cNvPr>
          <p:cNvSpPr/>
          <p:nvPr/>
        </p:nvSpPr>
        <p:spPr>
          <a:xfrm rot="20557152">
            <a:off x="1925545" y="4752441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6A27E718-CB5B-2A0E-5D31-D754667BDF66}"/>
              </a:ext>
            </a:extLst>
          </p:cNvPr>
          <p:cNvSpPr/>
          <p:nvPr/>
        </p:nvSpPr>
        <p:spPr>
          <a:xfrm rot="1577656">
            <a:off x="5856777" y="4255681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1647-B6BF-9871-7D92-B5DFABD8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63577A5-1023-7F68-85FA-7F9FF7E2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576" y="2882215"/>
            <a:ext cx="8779001" cy="169178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868B6FD-0604-3B48-9ED9-1717B3EFD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336715"/>
            <a:ext cx="11149445" cy="88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1" dirty="0"/>
              <a:t>Elementi testuali con le misure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E38674-76B0-969A-92E2-FA196339D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74" y="1487145"/>
            <a:ext cx="11574626" cy="745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Il contenuto di molti elementi testuali (come i titoli dei grafici o delle schede) può essere reso dinamico con misure che restituiscono testi.</a:t>
            </a:r>
            <a:endParaRPr lang="it-IT" dirty="0"/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7B695AAA-BB43-B0A5-AD29-55C5B6773711}"/>
              </a:ext>
            </a:extLst>
          </p:cNvPr>
          <p:cNvSpPr/>
          <p:nvPr/>
        </p:nvSpPr>
        <p:spPr>
          <a:xfrm rot="8080525">
            <a:off x="5027837" y="2789318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D0056E2B-CF21-6A8A-BDD8-B405A54CAAF5}"/>
              </a:ext>
            </a:extLst>
          </p:cNvPr>
          <p:cNvSpPr/>
          <p:nvPr/>
        </p:nvSpPr>
        <p:spPr>
          <a:xfrm rot="8080525">
            <a:off x="8681010" y="2789319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5B83EA0A-B890-C2AC-3B36-900F560976DC}"/>
              </a:ext>
            </a:extLst>
          </p:cNvPr>
          <p:cNvSpPr/>
          <p:nvPr/>
        </p:nvSpPr>
        <p:spPr>
          <a:xfrm rot="18831862">
            <a:off x="3581958" y="4530715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07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CEF0-D0B8-12E9-59F2-7B602FBA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0C8D31D-0A4C-8997-15F3-F6F01EF0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58" y="2715370"/>
            <a:ext cx="11242964" cy="381915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740B0BF-7AED-EAA8-6D65-75909E73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77" y="700397"/>
            <a:ext cx="11149445" cy="8894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it-IT" b="1" dirty="0"/>
              <a:t>Configuriamo una scheda con la misura testuale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8985B83B-86A2-16F6-7914-CCAC3143048E}"/>
              </a:ext>
            </a:extLst>
          </p:cNvPr>
          <p:cNvSpPr/>
          <p:nvPr/>
        </p:nvSpPr>
        <p:spPr>
          <a:xfrm rot="8080525">
            <a:off x="4612201" y="2718224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74447266-063C-93C2-68E1-7BA447287A03}"/>
              </a:ext>
            </a:extLst>
          </p:cNvPr>
          <p:cNvSpPr/>
          <p:nvPr/>
        </p:nvSpPr>
        <p:spPr>
          <a:xfrm rot="17007191">
            <a:off x="8732965" y="4522611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B94A7DC8-B074-09D7-6E1B-C5759E433F86}"/>
              </a:ext>
            </a:extLst>
          </p:cNvPr>
          <p:cNvSpPr/>
          <p:nvPr/>
        </p:nvSpPr>
        <p:spPr>
          <a:xfrm rot="21192690">
            <a:off x="9452821" y="6010746"/>
            <a:ext cx="1056872" cy="542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gnaposto contenuto 5">
            <a:extLst>
              <a:ext uri="{FF2B5EF4-FFF2-40B4-BE49-F238E27FC236}">
                <a16:creationId xmlns:a16="http://schemas.microsoft.com/office/drawing/2014/main" id="{3C2B550A-EF19-566A-7307-1203133D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86" y="1637512"/>
            <a:ext cx="11574626" cy="7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Eliminiamo l'Etichetta categoria per un effetto grafico migliore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835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7B82-E9EC-6C28-CFFC-312412EF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823D8-BD87-C7C8-453F-3638F9C3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4340717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X-ITERATORS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74EC5B18-7265-226B-DA81-2FBC07006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86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FB400-9E49-80FA-16E4-0D172A3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2D2271-646F-454D-2361-C14AAEA7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Creiamo una colonna calcolata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83C9F01-1116-CA78-EF0A-0B1F92DB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2216437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chemeClr val="tx2"/>
              </a:buClr>
              <a:buNone/>
            </a:pPr>
            <a:r>
              <a:rPr lang="it-IT" sz="2400" dirty="0"/>
              <a:t>Creiamo una colonna calcolata </a:t>
            </a:r>
          </a:p>
          <a:p>
            <a:pPr marL="0" indent="0">
              <a:buClr>
                <a:schemeClr val="tx2"/>
              </a:buClr>
              <a:buNone/>
            </a:pPr>
            <a:endParaRPr lang="it-IT" sz="2400" dirty="0"/>
          </a:p>
          <a:p>
            <a:pPr marL="0" indent="0">
              <a:buClr>
                <a:schemeClr val="tx2"/>
              </a:buClr>
              <a:buNone/>
            </a:pPr>
            <a:r>
              <a:rPr lang="it-IT" sz="2400" i="1" dirty="0" err="1"/>
              <a:t>ImportoNetto</a:t>
            </a:r>
            <a:r>
              <a:rPr lang="it-IT" sz="2400" i="1" dirty="0"/>
              <a:t> =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 </a:t>
            </a:r>
          </a:p>
          <a:p>
            <a:pPr marL="0" indent="0">
              <a:buClr>
                <a:schemeClr val="tx2"/>
              </a:buClr>
              <a:buNone/>
            </a:pPr>
            <a:endParaRPr lang="it-IT" sz="2400" dirty="0"/>
          </a:p>
          <a:p>
            <a:pPr marL="0" indent="0">
              <a:buClr>
                <a:schemeClr val="tx2"/>
              </a:buClr>
              <a:buNone/>
            </a:pPr>
            <a:r>
              <a:rPr lang="it-IT" sz="2400" dirty="0"/>
              <a:t>E usiamola in una visualizzazione per farne la somma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9148F74-DB34-10D3-6CB5-1919A737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509" y="3824475"/>
            <a:ext cx="6120620" cy="22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79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D3E9-5CD2-F13C-4B6D-E48B9836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6D962-CAA3-FB88-6198-55DD9885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Facciamo a meno della colonna calcolata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575868-DD6E-5E8A-0204-DFA6312DB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Vogliamo ottenere lo stesso risultato senza utilizzare la colonna calcolata.</a:t>
            </a:r>
          </a:p>
          <a:p>
            <a:pPr marL="0" indent="0">
              <a:buNone/>
            </a:pPr>
            <a:r>
              <a:rPr lang="it-IT" sz="2400" dirty="0"/>
              <a:t>Le colonne calcolate occupano infatti spazio nel modello e sono meno efficienti.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Tuttavia l'istruzione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i="1" dirty="0"/>
              <a:t>Somma Importo Netto = </a:t>
            </a:r>
          </a:p>
          <a:p>
            <a:pPr marL="0" indent="0">
              <a:buNone/>
            </a:pPr>
            <a:r>
              <a:rPr lang="it-IT" sz="2400" i="1" dirty="0"/>
              <a:t>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 - 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[Commissione])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genera un errore. 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3671566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471AA-535F-E4D3-B9C2-DDF480A9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2EA520-F2F8-BD38-DF06-077295D9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La funzione SUMX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0D922E0-A3FE-8CEE-DAA8-A89096D88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Dobbiamo usare allora la funzione SUMX di tipo X-</a:t>
            </a:r>
            <a:r>
              <a:rPr lang="it-IT" sz="2400" dirty="0" err="1"/>
              <a:t>Aggregator</a:t>
            </a:r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i="1" dirty="0"/>
              <a:t>Somma Importo Netto = </a:t>
            </a:r>
          </a:p>
          <a:p>
            <a:pPr marL="0" indent="0">
              <a:buNone/>
            </a:pPr>
            <a:r>
              <a:rPr lang="it-IT" sz="2400" i="1" dirty="0"/>
              <a:t>    SUMX(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- 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) 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67ABADA-3B19-BFF9-7161-51230F11B14B}"/>
              </a:ext>
            </a:extLst>
          </p:cNvPr>
          <p:cNvSpPr/>
          <p:nvPr/>
        </p:nvSpPr>
        <p:spPr>
          <a:xfrm>
            <a:off x="4192629" y="2693380"/>
            <a:ext cx="2455387" cy="5818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/>
              <a:t>Tabella da cui partire</a:t>
            </a:r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E74F3B37-1D88-D33E-E4B9-A2F6ACD492CC}"/>
              </a:ext>
            </a:extLst>
          </p:cNvPr>
          <p:cNvSpPr/>
          <p:nvPr/>
        </p:nvSpPr>
        <p:spPr>
          <a:xfrm rot="4425866">
            <a:off x="3169763" y="2506583"/>
            <a:ext cx="605927" cy="1323161"/>
          </a:xfrm>
          <a:prstGeom prst="downArrow">
            <a:avLst>
              <a:gd name="adj1" fmla="val 5028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1899C6B-BC5D-58D7-C6C7-A324E40CEDC8}"/>
              </a:ext>
            </a:extLst>
          </p:cNvPr>
          <p:cNvSpPr/>
          <p:nvPr/>
        </p:nvSpPr>
        <p:spPr>
          <a:xfrm>
            <a:off x="3787460" y="5429581"/>
            <a:ext cx="3527740" cy="5818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/>
              <a:t>Espressione da calcolare riga per riga e poi da sommare</a:t>
            </a:r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5C2E3DA5-F05C-7D35-CF66-83F40B2E88C0}"/>
              </a:ext>
            </a:extLst>
          </p:cNvPr>
          <p:cNvSpPr/>
          <p:nvPr/>
        </p:nvSpPr>
        <p:spPr>
          <a:xfrm rot="8080734">
            <a:off x="4028744" y="4066615"/>
            <a:ext cx="605927" cy="1323161"/>
          </a:xfrm>
          <a:prstGeom prst="downArrow">
            <a:avLst>
              <a:gd name="adj1" fmla="val 5028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0584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63E0-DFFD-CAFA-9B13-9ACE4B91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383AA8-B874-896D-3B96-7B0FB8B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69" y="209007"/>
            <a:ext cx="11238347" cy="1502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b="1" dirty="0"/>
              <a:t>Contesto di filtro e contesto di riga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1889E33-154A-24B1-E678-FF76E591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26" y="1408180"/>
            <a:ext cx="6350211" cy="502555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it-IT" sz="2400" dirty="0"/>
              <a:t>Il primo argomento di SUMX è valutato nel relativo </a:t>
            </a:r>
            <a:r>
              <a:rPr lang="it-IT" sz="2400" b="1" dirty="0"/>
              <a:t>contesto di filtro.</a:t>
            </a:r>
            <a:r>
              <a:rPr lang="it-IT" sz="2400" dirty="0"/>
              <a:t> </a:t>
            </a:r>
          </a:p>
          <a:p>
            <a:pPr marL="0" indent="0">
              <a:buNone/>
            </a:pPr>
            <a:r>
              <a:rPr lang="it-IT" sz="2400" dirty="0"/>
              <a:t>Ad esempio per calcolare il 541,90 sono prima individuate tutte le righe di </a:t>
            </a:r>
            <a:r>
              <a:rPr lang="it-IT" sz="2400" i="1" dirty="0" err="1"/>
              <a:t>tbl_Fatture</a:t>
            </a:r>
            <a:r>
              <a:rPr lang="it-IT" sz="2400" i="1" dirty="0"/>
              <a:t> </a:t>
            </a:r>
            <a:r>
              <a:rPr lang="it-IT" sz="2400" dirty="0"/>
              <a:t>(il primo argomento) relative a </a:t>
            </a:r>
            <a:r>
              <a:rPr lang="it-IT" sz="2400" i="1" dirty="0"/>
              <a:t>Fornitore Asa </a:t>
            </a:r>
            <a:r>
              <a:rPr lang="it-IT" sz="2400" dirty="0"/>
              <a:t>e ad eventuali filtri della visualizzazione.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Per ognuna di queste righe viene calcolata l'espressione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- 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 </a:t>
            </a:r>
            <a:r>
              <a:rPr lang="it-IT" sz="2400" dirty="0"/>
              <a:t>(il secondo argomento).</a:t>
            </a:r>
          </a:p>
          <a:p>
            <a:pPr marL="0" indent="0">
              <a:buNone/>
            </a:pPr>
            <a:r>
              <a:rPr lang="it-IT" sz="2400" dirty="0"/>
              <a:t>Questa operazione avviene dunque in un </a:t>
            </a:r>
            <a:r>
              <a:rPr lang="it-IT" sz="2400" b="1" dirty="0"/>
              <a:t>contesto di riga</a:t>
            </a:r>
            <a:r>
              <a:rPr lang="it-IT" sz="2400" dirty="0"/>
              <a:t>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Infine è calcolata la somma dei valori ottenuti.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38E18D9-F894-9DE8-4799-65D7308C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863" y="2642225"/>
            <a:ext cx="4293165" cy="2146582"/>
          </a:xfrm>
          <a:prstGeom prst="rect">
            <a:avLst/>
          </a:prstGeom>
        </p:spPr>
      </p:pic>
      <p:sp>
        <p:nvSpPr>
          <p:cNvPr id="8" name="Freccia in giù 7">
            <a:extLst>
              <a:ext uri="{FF2B5EF4-FFF2-40B4-BE49-F238E27FC236}">
                <a16:creationId xmlns:a16="http://schemas.microsoft.com/office/drawing/2014/main" id="{7784B490-84CF-CBC0-4F97-5FEC5B2946C8}"/>
              </a:ext>
            </a:extLst>
          </p:cNvPr>
          <p:cNvSpPr/>
          <p:nvPr/>
        </p:nvSpPr>
        <p:spPr>
          <a:xfrm rot="1645751">
            <a:off x="10958460" y="1832806"/>
            <a:ext cx="605927" cy="1323161"/>
          </a:xfrm>
          <a:prstGeom prst="downArrow">
            <a:avLst>
              <a:gd name="adj1" fmla="val 5028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3698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9537-8274-BB69-443E-66E63774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5E0A25-E644-E397-ADB0-CAB18541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SUM è un caso particolare di SUMX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E953A0B-E720-4430-DFBE-8E2D77A6C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3648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Teniamo presente che l'istruzione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i="1" dirty="0"/>
              <a:t>Somma Importo = </a:t>
            </a:r>
          </a:p>
          <a:p>
            <a:pPr marL="0" indent="0">
              <a:buNone/>
            </a:pPr>
            <a:r>
              <a:rPr lang="it-IT" sz="2400" i="1" dirty="0"/>
              <a:t>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è equivalente a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i="1" dirty="0"/>
              <a:t>Somma Importo = </a:t>
            </a:r>
          </a:p>
          <a:p>
            <a:pPr marL="0" indent="0">
              <a:buNone/>
            </a:pPr>
            <a:r>
              <a:rPr lang="it-IT" sz="2400" i="1" dirty="0"/>
              <a:t>    SUMX(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</a:t>
            </a:r>
          </a:p>
          <a:p>
            <a:pPr marL="0" indent="0">
              <a:buNone/>
            </a:pPr>
            <a:r>
              <a:rPr lang="it-IT" sz="2400" i="1" dirty="0"/>
              <a:t>    ) </a:t>
            </a:r>
          </a:p>
        </p:txBody>
      </p:sp>
    </p:spTree>
    <p:extLst>
      <p:ext uri="{BB962C8B-B14F-4D97-AF65-F5344CB8AC3E}">
        <p14:creationId xmlns:p14="http://schemas.microsoft.com/office/powerpoint/2010/main" val="4232434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8227-E90A-C471-BAC1-31E057BA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0E0C1A-C9FC-74E2-8976-4142F8F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Somma </a:t>
            </a:r>
            <a:r>
              <a:rPr lang="it-IT" b="1" dirty="0"/>
              <a:t>f</a:t>
            </a:r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atture </a:t>
            </a:r>
            <a:r>
              <a:rPr lang="it-IT" b="1" dirty="0"/>
              <a:t>alte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6ACDF6A-2014-AA3E-EC43-6F6F2FD2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1148244" cy="5001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Nel primo argomento di SUMX possiamo usare anche una funzione tabellare come FILTER.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400" i="1" dirty="0"/>
              <a:t>Somma fatture alte =</a:t>
            </a:r>
          </a:p>
          <a:p>
            <a:pPr marL="0" indent="0">
              <a:buNone/>
            </a:pPr>
            <a:r>
              <a:rPr lang="it-IT" sz="2400" i="1" dirty="0"/>
              <a:t>      SUMX(</a:t>
            </a:r>
          </a:p>
          <a:p>
            <a:pPr marL="0" indent="0">
              <a:buNone/>
            </a:pPr>
            <a:r>
              <a:rPr lang="it-IT" sz="2400" i="1" dirty="0"/>
              <a:t>          </a:t>
            </a:r>
            <a:r>
              <a:rPr lang="it-IT" sz="2400" b="1" i="1" dirty="0"/>
              <a:t>FILTER(</a:t>
            </a:r>
          </a:p>
          <a:p>
            <a:pPr marL="0" indent="0">
              <a:buNone/>
            </a:pPr>
            <a:r>
              <a:rPr lang="it-IT" sz="2400" b="1" i="1" dirty="0"/>
              <a:t>              </a:t>
            </a:r>
            <a:r>
              <a:rPr lang="it-IT" sz="2400" b="1" i="1" dirty="0" err="1"/>
              <a:t>tbl_Fatture</a:t>
            </a:r>
            <a:r>
              <a:rPr lang="it-IT" sz="2400" b="1" i="1" dirty="0"/>
              <a:t>,</a:t>
            </a:r>
          </a:p>
          <a:p>
            <a:pPr marL="0" indent="0">
              <a:buNone/>
            </a:pPr>
            <a:r>
              <a:rPr lang="it-IT" sz="2400" b="1" i="1" dirty="0"/>
              <a:t>              </a:t>
            </a:r>
            <a:r>
              <a:rPr lang="it-IT" sz="2400" b="1" i="1" dirty="0" err="1"/>
              <a:t>tbl_Fatture</a:t>
            </a:r>
            <a:r>
              <a:rPr lang="it-IT" sz="2400" b="1" i="1" dirty="0"/>
              <a:t>[Importo]&gt;10 </a:t>
            </a:r>
          </a:p>
          <a:p>
            <a:pPr marL="0" indent="0">
              <a:buNone/>
            </a:pPr>
            <a:r>
              <a:rPr lang="it-IT" sz="2400" b="1" i="1" dirty="0"/>
              <a:t>          ),</a:t>
            </a:r>
          </a:p>
          <a:p>
            <a:pPr marL="0" indent="0">
              <a:buNone/>
            </a:pPr>
            <a:r>
              <a:rPr lang="it-IT" sz="2400" i="1" dirty="0"/>
              <a:t>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)</a:t>
            </a:r>
          </a:p>
        </p:txBody>
      </p:sp>
    </p:spTree>
    <p:extLst>
      <p:ext uri="{BB962C8B-B14F-4D97-AF65-F5344CB8AC3E}">
        <p14:creationId xmlns:p14="http://schemas.microsoft.com/office/powerpoint/2010/main" val="570637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BA88-1636-47F1-041C-EB47559D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76F57-ECBB-7303-6380-A845BB6A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FILTER all'interno di SUMX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EBDD09-0F7D-D854-FF66-09F2B7C4D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1148244" cy="5001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Soffermiamoci sul primo argomento di SUMX</a:t>
            </a:r>
          </a:p>
          <a:p>
            <a:pPr marL="0" indent="0">
              <a:buNone/>
            </a:pPr>
            <a:endParaRPr lang="it-IT" sz="1200" dirty="0"/>
          </a:p>
          <a:p>
            <a:pPr marL="0" indent="0">
              <a:buNone/>
            </a:pPr>
            <a:r>
              <a:rPr lang="it-IT" sz="2400" i="1" dirty="0"/>
              <a:t> FILTER(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[Importo]&gt;10 )</a:t>
            </a:r>
          </a:p>
          <a:p>
            <a:pPr marL="0" indent="0">
              <a:buNone/>
            </a:pPr>
            <a:endParaRPr lang="it-IT" sz="1200" i="1" dirty="0"/>
          </a:p>
          <a:p>
            <a:pPr marL="0" indent="0">
              <a:buNone/>
            </a:pPr>
            <a:r>
              <a:rPr lang="it-IT" sz="2400" i="1" dirty="0" err="1"/>
              <a:t>tbl_Fatture</a:t>
            </a:r>
            <a:r>
              <a:rPr lang="it-IT" sz="2400" dirty="0"/>
              <a:t> sarà comunque valutata nel contesto di filtro corrente. A tale contesto si aggiungerà l'ulteriore filtro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</a:t>
            </a:r>
          </a:p>
        </p:txBody>
      </p:sp>
    </p:spTree>
    <p:extLst>
      <p:ext uri="{BB962C8B-B14F-4D97-AF65-F5344CB8AC3E}">
        <p14:creationId xmlns:p14="http://schemas.microsoft.com/office/powerpoint/2010/main" val="3507245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13E7-ED0F-D7B1-5DED-0E519361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B1824B-7177-D91B-D4F5-2204D5CB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Divisione tra due misure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A8E1671-6561-D8D7-6971-F75318B0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2" y="1399597"/>
            <a:ext cx="11272935" cy="5260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Creiamo una misura che utilizza le due precedenti per calcolare una percentuale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fatture alte = </a:t>
            </a:r>
          </a:p>
          <a:p>
            <a:pPr marL="0" indent="0">
              <a:buNone/>
            </a:pPr>
            <a:r>
              <a:rPr lang="it-IT" sz="2400" i="1" dirty="0"/>
              <a:t>    DIVIDE(</a:t>
            </a:r>
          </a:p>
          <a:p>
            <a:pPr marL="0" indent="0">
              <a:buNone/>
            </a:pPr>
            <a:r>
              <a:rPr lang="it-IT" sz="2400" i="1" dirty="0"/>
              <a:t>        [Somma fatture alte],</a:t>
            </a:r>
          </a:p>
          <a:p>
            <a:pPr marL="0" indent="0">
              <a:buNone/>
            </a:pPr>
            <a:r>
              <a:rPr lang="it-IT" sz="2400" i="1" dirty="0"/>
              <a:t>        [Somma Importo Netto]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  <a:p>
            <a:pPr marL="0" indent="0">
              <a:buNone/>
            </a:pP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2024903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42B0-3C82-82E8-F074-4FFB1B27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B9FA64-6F93-FF16-2E7C-BC3E67F5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Accenno a CALCULATE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B5EAB6-4A5E-0F23-8D06-6792CB47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2" y="1399597"/>
            <a:ext cx="11272935" cy="5260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N.B. La misura precedente è equivalente a </a:t>
            </a:r>
            <a:r>
              <a:rPr lang="it-IT" sz="2400" i="1" dirty="0"/>
              <a:t> 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fatture alte = </a:t>
            </a:r>
          </a:p>
          <a:p>
            <a:pPr marL="0" indent="0">
              <a:buNone/>
            </a:pPr>
            <a:r>
              <a:rPr lang="it-IT" sz="2400" i="1" dirty="0"/>
              <a:t>DIVIDE(</a:t>
            </a:r>
          </a:p>
          <a:p>
            <a:pPr marL="0" indent="0">
              <a:buNone/>
            </a:pPr>
            <a:r>
              <a:rPr lang="it-IT" sz="2400" i="1" dirty="0"/>
              <a:t>        CALCULATE([Somma fatture alte]),</a:t>
            </a:r>
          </a:p>
          <a:p>
            <a:pPr marL="0" indent="0">
              <a:buNone/>
            </a:pPr>
            <a:r>
              <a:rPr lang="it-IT" sz="2400" i="1" dirty="0"/>
              <a:t>        CALCULATE([Somma Importo Netto])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dirty="0"/>
              <a:t>Studieremo la funzione CALCULATE più avanti, in questo caso (ma non sempre) non impatta sul risultato.</a:t>
            </a:r>
          </a:p>
          <a:p>
            <a:pPr marL="0" indent="0">
              <a:buNone/>
            </a:pP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2106949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8D2C-AD24-27D4-0F7B-879ED91D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901B4C-63BE-24A7-29C4-F788442F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1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C208424-CEA3-79A1-17AC-85E7DBEBD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271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Osserviamo le differenze tra queste misura e quella della slide successiva</a:t>
            </a:r>
          </a:p>
          <a:p>
            <a:pPr marL="0" indent="0">
              <a:buNone/>
            </a:pPr>
            <a:endParaRPr lang="it-IT" sz="100" i="1" dirty="0"/>
          </a:p>
          <a:p>
            <a:pPr marL="0" indent="0">
              <a:buNone/>
            </a:pPr>
            <a:r>
              <a:rPr lang="it-IT" sz="2400" i="1" dirty="0"/>
              <a:t>Importo fatture sopra media 1 = </a:t>
            </a:r>
          </a:p>
          <a:p>
            <a:pPr marL="0" indent="0">
              <a:buNone/>
            </a:pPr>
            <a:r>
              <a:rPr lang="it-IT" sz="2400" i="1" dirty="0"/>
              <a:t>    SUMX(</a:t>
            </a:r>
          </a:p>
          <a:p>
            <a:pPr marL="0" indent="0">
              <a:buNone/>
            </a:pPr>
            <a:r>
              <a:rPr lang="it-IT" sz="2400" i="1" dirty="0"/>
              <a:t>        FILTER(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&gt; AVERAGE(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</a:t>
            </a:r>
          </a:p>
          <a:p>
            <a:pPr marL="0" indent="0">
              <a:buNone/>
            </a:pPr>
            <a:r>
              <a:rPr lang="it-IT" sz="2400" i="1" dirty="0"/>
              <a:t>         ) ,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3499057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C33AF-C265-D5D6-ABF5-0C30B742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B721E-78A6-A896-3683-81DCE786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2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D936F33-32B9-1135-63BE-07115B23A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7"/>
            <a:ext cx="10896602" cy="5260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 err="1"/>
              <a:t>Importo</a:t>
            </a:r>
            <a:r>
              <a:rPr lang="en-US" sz="2400" i="1" dirty="0"/>
              <a:t> </a:t>
            </a:r>
            <a:r>
              <a:rPr lang="en-US" sz="2400" i="1" dirty="0" err="1"/>
              <a:t>fatture</a:t>
            </a:r>
            <a:r>
              <a:rPr lang="en-US" sz="2400" i="1" dirty="0"/>
              <a:t> sopra media 2 = </a:t>
            </a:r>
          </a:p>
          <a:p>
            <a:pPr marL="0" indent="0">
              <a:buNone/>
            </a:pPr>
            <a:r>
              <a:rPr lang="en-US" sz="2400" i="1" dirty="0"/>
              <a:t>VAR media = AVERAGEX(</a:t>
            </a:r>
          </a:p>
          <a:p>
            <a:pPr marL="0" indent="0">
              <a:buNone/>
            </a:pPr>
            <a:r>
              <a:rPr lang="en-US" sz="2400" i="1" dirty="0"/>
              <a:t>                ALL(</a:t>
            </a:r>
            <a:r>
              <a:rPr lang="en-US" sz="2400" i="1" dirty="0" err="1"/>
              <a:t>tbl_Fatture</a:t>
            </a:r>
            <a:r>
              <a:rPr lang="en-US" sz="2400" i="1" dirty="0"/>
              <a:t>),</a:t>
            </a:r>
          </a:p>
          <a:p>
            <a:pPr marL="0" indent="0">
              <a:buNone/>
            </a:pPr>
            <a:r>
              <a:rPr lang="en-US" sz="2400" i="1" dirty="0"/>
              <a:t>                </a:t>
            </a:r>
            <a:r>
              <a:rPr lang="en-US" sz="2400" i="1" dirty="0" err="1"/>
              <a:t>tbl_Fatture</a:t>
            </a:r>
            <a:r>
              <a:rPr lang="en-US" sz="2400" i="1" dirty="0"/>
              <a:t>[</a:t>
            </a:r>
            <a:r>
              <a:rPr lang="en-US" sz="2400" i="1" dirty="0" err="1"/>
              <a:t>Importo</a:t>
            </a:r>
            <a:r>
              <a:rPr lang="en-US" sz="2400" i="1" dirty="0"/>
              <a:t>])</a:t>
            </a:r>
          </a:p>
          <a:p>
            <a:pPr marL="0" indent="0">
              <a:buNone/>
            </a:pPr>
            <a:r>
              <a:rPr lang="en-US" sz="2400" i="1" dirty="0"/>
              <a:t>VAR result = </a:t>
            </a:r>
          </a:p>
          <a:p>
            <a:pPr marL="0" indent="0">
              <a:buNone/>
            </a:pPr>
            <a:r>
              <a:rPr lang="en-US" sz="2400" i="1" dirty="0"/>
              <a:t>        SUMX(</a:t>
            </a:r>
          </a:p>
          <a:p>
            <a:pPr marL="0" indent="0">
              <a:buNone/>
            </a:pPr>
            <a:r>
              <a:rPr lang="en-US" sz="2400" i="1" dirty="0"/>
              <a:t>            FILTER(</a:t>
            </a:r>
          </a:p>
          <a:p>
            <a:pPr marL="0" indent="0">
              <a:buNone/>
            </a:pPr>
            <a:r>
              <a:rPr lang="en-US" sz="2400" i="1" dirty="0"/>
              <a:t>                </a:t>
            </a:r>
            <a:r>
              <a:rPr lang="en-US" sz="2400" i="1" dirty="0" err="1"/>
              <a:t>tbl_Fatture</a:t>
            </a:r>
            <a:r>
              <a:rPr lang="en-US" sz="2400" i="1" dirty="0"/>
              <a:t>,</a:t>
            </a:r>
          </a:p>
          <a:p>
            <a:pPr marL="0" indent="0">
              <a:buNone/>
            </a:pPr>
            <a:r>
              <a:rPr lang="en-US" sz="2400" i="1" dirty="0"/>
              <a:t>                </a:t>
            </a:r>
            <a:r>
              <a:rPr lang="en-US" sz="2400" i="1" dirty="0" err="1"/>
              <a:t>tbl_Fatture</a:t>
            </a:r>
            <a:r>
              <a:rPr lang="en-US" sz="2400" i="1" dirty="0"/>
              <a:t>[</a:t>
            </a:r>
            <a:r>
              <a:rPr lang="en-US" sz="2400" i="1" dirty="0" err="1"/>
              <a:t>Importo</a:t>
            </a:r>
            <a:r>
              <a:rPr lang="en-US" sz="2400" i="1" dirty="0"/>
              <a:t>]&gt;media) ,</a:t>
            </a:r>
          </a:p>
          <a:p>
            <a:pPr marL="0" indent="0">
              <a:buNone/>
            </a:pPr>
            <a:r>
              <a:rPr lang="en-US" sz="2400" i="1" dirty="0"/>
              <a:t>            </a:t>
            </a:r>
            <a:r>
              <a:rPr lang="en-US" sz="2400" i="1" dirty="0" err="1"/>
              <a:t>tbl_Fatture</a:t>
            </a:r>
            <a:r>
              <a:rPr lang="en-US" sz="2400" i="1" dirty="0"/>
              <a:t>[</a:t>
            </a:r>
            <a:r>
              <a:rPr lang="en-US" sz="2400" i="1" dirty="0" err="1"/>
              <a:t>Importo</a:t>
            </a:r>
            <a:r>
              <a:rPr lang="en-US" sz="2400" i="1" dirty="0"/>
              <a:t>]-</a:t>
            </a:r>
            <a:r>
              <a:rPr lang="en-US" sz="2400" i="1" dirty="0" err="1"/>
              <a:t>tbl_Fatture</a:t>
            </a:r>
            <a:r>
              <a:rPr lang="en-US" sz="2400" i="1" dirty="0"/>
              <a:t>[</a:t>
            </a:r>
            <a:r>
              <a:rPr lang="en-US" sz="2400" i="1" dirty="0" err="1"/>
              <a:t>Commissione</a:t>
            </a:r>
            <a:r>
              <a:rPr lang="en-US" sz="2400" i="1" dirty="0"/>
              <a:t>])</a:t>
            </a:r>
          </a:p>
          <a:p>
            <a:pPr marL="0" indent="0">
              <a:buNone/>
            </a:pPr>
            <a:r>
              <a:rPr lang="en-US" sz="2400" i="1" dirty="0"/>
              <a:t>RETURN result</a:t>
            </a:r>
          </a:p>
        </p:txBody>
      </p:sp>
    </p:spTree>
    <p:extLst>
      <p:ext uri="{BB962C8B-B14F-4D97-AF65-F5344CB8AC3E}">
        <p14:creationId xmlns:p14="http://schemas.microsoft.com/office/powerpoint/2010/main" val="1689836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A650-530F-A0D3-6B61-38D85237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F83AC8-1F53-F6E9-9E80-83B21F8F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6C2F93C-C62C-EC01-AF81-02F265ED4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4561608"/>
            <a:ext cx="10896602" cy="1729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Nella prima misura è considerata per ogni fornitore la relative media.</a:t>
            </a:r>
          </a:p>
          <a:p>
            <a:pPr marL="0" indent="0">
              <a:buNone/>
            </a:pPr>
            <a:r>
              <a:rPr lang="it-IT" sz="2400" dirty="0"/>
              <a:t>Nella seconda misura, grazie alla funzione </a:t>
            </a:r>
            <a:r>
              <a:rPr lang="it-IT" sz="2400" b="1" dirty="0"/>
              <a:t>ALL</a:t>
            </a:r>
            <a:r>
              <a:rPr lang="it-IT" sz="2400" dirty="0"/>
              <a:t>, è considerata la media di tutte le fatture.</a:t>
            </a:r>
            <a:endParaRPr lang="en-US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D20362D-931A-7232-7E99-72985FEEC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79" y="1565519"/>
            <a:ext cx="7607549" cy="218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48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E35C-F2A2-220A-3588-6493B2E6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A92F3D-AF9C-5543-AD0E-2914E552F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Percentuale sul totale – nuovo uso di ALL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D0B1F0A-1D8B-6D38-B4C9-043E1543C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4891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Consideriamo un nuovo esempio con la funzione ALL.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Netto = </a:t>
            </a:r>
          </a:p>
          <a:p>
            <a:pPr marL="0" indent="0">
              <a:buNone/>
            </a:pPr>
            <a:r>
              <a:rPr lang="it-IT" sz="2400" i="1" dirty="0"/>
              <a:t>    DIVIDE(</a:t>
            </a:r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ALL(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809042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7E12-F140-A20C-F36A-0B404FB7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17D6C9-8198-8C6A-483E-FE57FF8F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Chiarimento su ALL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B1859B-E3A7-AE86-2A68-B1D1D1317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7"/>
            <a:ext cx="10896602" cy="53172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Soffermiamo sul denominatore</a:t>
            </a:r>
          </a:p>
          <a:p>
            <a:pPr marL="0" indent="0">
              <a:buNone/>
            </a:pPr>
            <a:r>
              <a:rPr lang="it-IT" sz="2400" i="1" dirty="0"/>
              <a:t>SUMX(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b="1" i="1" dirty="0"/>
              <a:t>ALL</a:t>
            </a:r>
            <a:r>
              <a:rPr lang="it-IT" sz="2400" i="1" dirty="0"/>
              <a:t>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 err="1"/>
              <a:t>tbl_Fatture</a:t>
            </a:r>
            <a:r>
              <a:rPr lang="it-IT" sz="2400" i="1" dirty="0"/>
              <a:t> </a:t>
            </a:r>
            <a:r>
              <a:rPr lang="it-IT" sz="2400" dirty="0"/>
              <a:t>è inizialmente valutata nel suo contesto di filtro. In seguito la funzione </a:t>
            </a:r>
            <a:r>
              <a:rPr lang="it-IT" sz="2400" b="1" dirty="0"/>
              <a:t>ALL</a:t>
            </a:r>
            <a:r>
              <a:rPr lang="it-IT" sz="2400" dirty="0"/>
              <a:t> restituirà in output tutte le sue righe (non solo quelle relative al contesto di filtro).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Tecnicamente ALL </a:t>
            </a:r>
            <a:r>
              <a:rPr lang="it-IT" sz="2400" b="1" dirty="0"/>
              <a:t>non modifica </a:t>
            </a:r>
            <a:r>
              <a:rPr lang="it-IT" sz="2400" dirty="0"/>
              <a:t>il contesto di filtro. La valutazione è comunque svolta, tuttavia l'output di ALL sarà costituito a prescindere da tutte le righe della tabella che gli arriva in input (anche se filtrata dal contesto).</a:t>
            </a:r>
          </a:p>
        </p:txBody>
      </p:sp>
    </p:spTree>
    <p:extLst>
      <p:ext uri="{BB962C8B-B14F-4D97-AF65-F5344CB8AC3E}">
        <p14:creationId xmlns:p14="http://schemas.microsoft.com/office/powerpoint/2010/main" val="3855857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F7A8-16D0-74A6-3312-F9B7314C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C33DDD-D333-1013-007F-F1B07E06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0BF2CEB-F414-0EDF-4693-D126A194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7"/>
            <a:ext cx="10896602" cy="5317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Nella visualizzazione vediamo come il risultato della nostra misura coincide con quanto ottenuto tramite l'opzione </a:t>
            </a:r>
            <a:r>
              <a:rPr lang="it-IT" sz="2400" i="1" dirty="0"/>
              <a:t>"Mostra valori come" </a:t>
            </a:r>
            <a:r>
              <a:rPr lang="it-IT" sz="2400" dirty="0"/>
              <a:t>-&gt; </a:t>
            </a:r>
            <a:r>
              <a:rPr lang="it-IT" sz="2400" i="1" dirty="0"/>
              <a:t>"Percentuale del totale complessivo"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endParaRPr lang="it-IT" sz="2400" i="1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D463C3A-D42F-CDAC-25DA-40439E22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13" y="3072802"/>
            <a:ext cx="7392041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63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FADA8-52DF-11CD-C59C-ED2F77D9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32EF1-FA6E-36B9-5EE9-624F4803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Inseriamo uno </a:t>
            </a:r>
            <a:r>
              <a:rPr lang="it-IT" b="1" i="0" kern="1200" dirty="0" err="1">
                <a:effectLst/>
                <a:latin typeface="+mj-lt"/>
                <a:ea typeface="+mj-ea"/>
                <a:cs typeface="+mj-cs"/>
              </a:rPr>
              <a:t>slicer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D68B8D9-48F0-2C30-839A-3D39EEA2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4891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Inseriamo uno </a:t>
            </a:r>
            <a:r>
              <a:rPr lang="it-IT" sz="2400" dirty="0" err="1"/>
              <a:t>slicer</a:t>
            </a:r>
            <a:r>
              <a:rPr lang="it-IT" sz="2400" dirty="0"/>
              <a:t> sul corriere. </a:t>
            </a:r>
          </a:p>
          <a:p>
            <a:pPr marL="0" indent="0">
              <a:buNone/>
            </a:pPr>
            <a:r>
              <a:rPr lang="it-IT" sz="2400" dirty="0"/>
              <a:t>Dopo aver selezionato un corriere, vediamo che le due colonne mostrano valori diversi!</a:t>
            </a:r>
          </a:p>
          <a:p>
            <a:pPr marL="0" indent="0">
              <a:buNone/>
            </a:pPr>
            <a:r>
              <a:rPr lang="it-IT" sz="2400" dirty="0"/>
              <a:t>Questo perché la funzione ALL al denominatore, restituendo tutte le righe annulla anche la parte del contesto di filtro legata allo </a:t>
            </a:r>
            <a:r>
              <a:rPr lang="it-IT" sz="2400" dirty="0" err="1"/>
              <a:t>slicer</a:t>
            </a:r>
            <a:r>
              <a:rPr lang="it-IT" sz="2400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26FFE8E-749F-D948-CFB6-5055AAC0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54" y="3644687"/>
            <a:ext cx="8692290" cy="24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26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F70BB-7478-587A-B70D-AE7043E8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E106B4-B9B6-74BE-BE5B-13CE95BC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Modifichiamo ALL con ALLSELECTED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13CA600-2169-0FD3-C179-233C88EA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2" y="1399598"/>
            <a:ext cx="11192117" cy="48919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Per</a:t>
            </a:r>
            <a:r>
              <a:rPr lang="it-IT" sz="2400" i="1" dirty="0"/>
              <a:t> </a:t>
            </a:r>
            <a:r>
              <a:rPr lang="it-IT" sz="2400" dirty="0"/>
              <a:t>mantenere il contesto di filtro dato dai valori selezionati all'interno della visualizzazione (nello </a:t>
            </a:r>
            <a:r>
              <a:rPr lang="it-IT" sz="2400" dirty="0" err="1"/>
              <a:t>slicer</a:t>
            </a:r>
            <a:r>
              <a:rPr lang="it-IT" sz="2400" dirty="0"/>
              <a:t> o in altri elementi grafici) devo sostituire la funzione ALL con </a:t>
            </a:r>
            <a:r>
              <a:rPr lang="it-IT" sz="2400" b="1" dirty="0"/>
              <a:t>ALLSELECTED</a:t>
            </a:r>
            <a:r>
              <a:rPr lang="it-IT" sz="2400" dirty="0"/>
              <a:t>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Netto = </a:t>
            </a:r>
          </a:p>
          <a:p>
            <a:pPr marL="0" indent="0">
              <a:buNone/>
            </a:pPr>
            <a:r>
              <a:rPr lang="it-IT" sz="2400" i="1" dirty="0"/>
              <a:t>    DIVIDE(</a:t>
            </a:r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b="1" i="1" dirty="0"/>
              <a:t>ALLSELECTED</a:t>
            </a:r>
            <a:r>
              <a:rPr lang="it-IT" sz="2400" i="1" dirty="0"/>
              <a:t>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2134246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7C9FC-36CA-45EF-3ED5-136E1B1D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6F13B0-240C-FD76-965B-3287A19C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1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FE1965-D9B1-0538-3C29-35909EAEB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1101806" cy="5272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In questa slide e nella successiva, troviamo un altro esempio dell'impatto di ALL (o di ALLSELECTED) su una misura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600" i="1" dirty="0"/>
              <a:t>% Importo su fornitore 1 errato = </a:t>
            </a:r>
          </a:p>
          <a:p>
            <a:pPr marL="0" indent="0">
              <a:buNone/>
            </a:pPr>
            <a:r>
              <a:rPr lang="it-IT" sz="2600" i="1" dirty="0"/>
              <a:t>    DIVIDE( </a:t>
            </a:r>
          </a:p>
          <a:p>
            <a:pPr marL="0" indent="0">
              <a:buNone/>
            </a:pPr>
            <a:r>
              <a:rPr lang="it-IT" sz="2600" i="1" dirty="0"/>
              <a:t>        [Somma Importo Netto],</a:t>
            </a:r>
          </a:p>
          <a:p>
            <a:pPr marL="0" indent="0">
              <a:buNone/>
            </a:pPr>
            <a:r>
              <a:rPr lang="it-IT" sz="2600" i="1" dirty="0"/>
              <a:t>        SUMX(</a:t>
            </a:r>
          </a:p>
          <a:p>
            <a:pPr marL="0" indent="0">
              <a:buNone/>
            </a:pPr>
            <a:r>
              <a:rPr lang="it-IT" sz="2600" i="1" dirty="0"/>
              <a:t>            FILTER(</a:t>
            </a:r>
          </a:p>
          <a:p>
            <a:pPr marL="0" indent="0">
              <a:buNone/>
            </a:pPr>
            <a:r>
              <a:rPr lang="it-IT" sz="2600" i="1" dirty="0"/>
              <a:t>                </a:t>
            </a:r>
            <a:r>
              <a:rPr lang="it-IT" sz="2600" i="1" dirty="0" err="1"/>
              <a:t>tbl_Fatture</a:t>
            </a:r>
            <a:r>
              <a:rPr lang="it-IT" sz="2600" i="1" dirty="0"/>
              <a:t>,</a:t>
            </a:r>
          </a:p>
          <a:p>
            <a:pPr marL="0" indent="0">
              <a:buNone/>
            </a:pPr>
            <a:r>
              <a:rPr lang="it-IT" sz="2600" i="1" dirty="0"/>
              <a:t>                </a:t>
            </a:r>
            <a:r>
              <a:rPr lang="it-IT" sz="2600" i="1" dirty="0" err="1"/>
              <a:t>tbl_Fatture</a:t>
            </a:r>
            <a:r>
              <a:rPr lang="it-IT" sz="2600" i="1" dirty="0"/>
              <a:t>[</a:t>
            </a:r>
            <a:r>
              <a:rPr lang="it-IT" sz="2600" i="1" dirty="0" err="1"/>
              <a:t>IdFornitore</a:t>
            </a:r>
            <a:r>
              <a:rPr lang="it-IT" sz="2600" i="1" dirty="0"/>
              <a:t>]=1 </a:t>
            </a:r>
          </a:p>
          <a:p>
            <a:pPr marL="0" indent="0">
              <a:buNone/>
            </a:pPr>
            <a:r>
              <a:rPr lang="it-IT" sz="2600" i="1" dirty="0"/>
              <a:t>             ),</a:t>
            </a:r>
          </a:p>
          <a:p>
            <a:pPr marL="0" indent="0">
              <a:buNone/>
            </a:pPr>
            <a:r>
              <a:rPr lang="it-IT" sz="2600" i="1" dirty="0"/>
              <a:t>            </a:t>
            </a:r>
            <a:r>
              <a:rPr lang="it-IT" sz="2600" i="1" dirty="0" err="1"/>
              <a:t>tbl_Fatture</a:t>
            </a:r>
            <a:r>
              <a:rPr lang="it-IT" sz="2600" i="1" dirty="0"/>
              <a:t>[Importo]-</a:t>
            </a:r>
            <a:r>
              <a:rPr lang="it-IT" sz="2600" i="1" dirty="0" err="1"/>
              <a:t>tbl_Fatture</a:t>
            </a:r>
            <a:r>
              <a:rPr lang="it-IT" sz="2600" i="1" dirty="0"/>
              <a:t>[Commissione]</a:t>
            </a:r>
          </a:p>
          <a:p>
            <a:pPr marL="0" indent="0">
              <a:buNone/>
            </a:pPr>
            <a:r>
              <a:rPr lang="it-IT" sz="2600" i="1" dirty="0"/>
              <a:t>        )</a:t>
            </a:r>
          </a:p>
          <a:p>
            <a:pPr marL="0" indent="0">
              <a:buNone/>
            </a:pPr>
            <a:r>
              <a:rPr lang="it-IT" sz="26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17729877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A1C97-DC87-745D-3C3D-D384E1C5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A6FFB9-6FCC-507E-1D0A-5CA59238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2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2200042-5318-2339-8E81-E96E241AD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7"/>
            <a:ext cx="10896602" cy="5240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i="1" dirty="0"/>
              <a:t>% Importo su fornitore 1 corretto = </a:t>
            </a:r>
          </a:p>
          <a:p>
            <a:pPr marL="0" indent="0">
              <a:buNone/>
            </a:pPr>
            <a:r>
              <a:rPr lang="it-IT" sz="2400" i="1" dirty="0"/>
              <a:t>    DIVIDE( </a:t>
            </a:r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FILTER(</a:t>
            </a:r>
          </a:p>
          <a:p>
            <a:pPr marL="0" indent="0">
              <a:buNone/>
            </a:pPr>
            <a:r>
              <a:rPr lang="it-IT" sz="2400" i="1" dirty="0"/>
              <a:t>                </a:t>
            </a:r>
            <a:r>
              <a:rPr lang="it-IT" sz="2400" b="1" i="1" dirty="0"/>
              <a:t>ALL</a:t>
            </a:r>
            <a:r>
              <a:rPr lang="it-IT" sz="2400" i="1" dirty="0"/>
              <a:t>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</a:p>
          <a:p>
            <a:pPr marL="0" indent="0">
              <a:buNone/>
            </a:pPr>
            <a:r>
              <a:rPr lang="it-IT" sz="2400" i="1" dirty="0"/>
              <a:t>    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IdFornitore</a:t>
            </a:r>
            <a:r>
              <a:rPr lang="it-IT" sz="2400" i="1" dirty="0"/>
              <a:t>]=1 </a:t>
            </a:r>
          </a:p>
          <a:p>
            <a:pPr marL="0" indent="0">
              <a:buNone/>
            </a:pPr>
            <a:r>
              <a:rPr lang="it-IT" sz="2400" i="1" dirty="0"/>
              <a:t>             ),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2454697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62AD7-9186-3EC8-1DD9-C9820FE7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98398-6894-C133-93D1-C4C29C40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C565B8F-4B77-5DD9-91BC-B09BFBDE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4402666"/>
            <a:ext cx="10896602" cy="1888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Con la prima misura il dato per il fornitore 2 e per il fornitore 3 è vuoto.</a:t>
            </a:r>
          </a:p>
          <a:p>
            <a:pPr marL="0" indent="0">
              <a:buNone/>
            </a:pPr>
            <a:r>
              <a:rPr lang="it-IT" sz="2400" dirty="0"/>
              <a:t>Infatti, per ognuna di queste due voci, la combinazione del contesto di filtro con la condizione aggiuntiva di FILTER non lascia righe da valutare.</a:t>
            </a:r>
            <a:endParaRPr lang="en-US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BCD94FA-98C9-B6A7-26E5-E9AFC74E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7" y="1576574"/>
            <a:ext cx="8055426" cy="21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39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63FC-82C2-FDF0-3458-818526ED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625914-FD3D-20FF-02F6-C5A5CD4E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ALL(colonna)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E31A0B5-95CE-2EB6-220E-C71AEE00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09" y="1430866"/>
            <a:ext cx="11293717" cy="1888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Consideriamo le due misure</a:t>
            </a:r>
          </a:p>
          <a:p>
            <a:pPr marL="0" indent="0">
              <a:buNone/>
            </a:pPr>
            <a:r>
              <a:rPr lang="it-IT" sz="2400" i="1" dirty="0"/>
              <a:t>Media Con </a:t>
            </a:r>
            <a:r>
              <a:rPr lang="it-IT" sz="2400" i="1" dirty="0" err="1"/>
              <a:t>All</a:t>
            </a:r>
            <a:r>
              <a:rPr lang="it-IT" sz="2400" i="1" dirty="0"/>
              <a:t> Errata = AVERAGEX(ALL(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</a:t>
            </a:r>
            <a:r>
              <a:rPr lang="it-IT" sz="2400" i="1" dirty="0" err="1"/>
              <a:t>tbl_Fatture</a:t>
            </a:r>
            <a:r>
              <a:rPr lang="it-IT" sz="2400" i="1" dirty="0"/>
              <a:t>[Importo]) </a:t>
            </a:r>
          </a:p>
          <a:p>
            <a:pPr marL="0" indent="0">
              <a:buNone/>
            </a:pPr>
            <a:endParaRPr lang="it-IT" sz="1050" dirty="0"/>
          </a:p>
          <a:p>
            <a:pPr marL="0" indent="0">
              <a:buNone/>
            </a:pPr>
            <a:r>
              <a:rPr lang="it-IT" sz="2400" i="1" dirty="0"/>
              <a:t>Media Con </a:t>
            </a:r>
            <a:r>
              <a:rPr lang="it-IT" sz="2400" i="1" dirty="0" err="1"/>
              <a:t>All</a:t>
            </a:r>
            <a:r>
              <a:rPr lang="it-IT" sz="2400" i="1" dirty="0"/>
              <a:t> = AVERAGEX(ALL(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  <a:r>
              <a:rPr lang="it-IT" sz="2400" i="1" dirty="0" err="1"/>
              <a:t>tbl_Fatture</a:t>
            </a:r>
            <a:r>
              <a:rPr lang="it-IT" sz="2400" i="1" dirty="0"/>
              <a:t>[Importo])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B5512E2C-B068-19FE-76FF-726B11A191A5}"/>
              </a:ext>
            </a:extLst>
          </p:cNvPr>
          <p:cNvSpPr txBox="1">
            <a:spLocks/>
          </p:cNvSpPr>
          <p:nvPr/>
        </p:nvSpPr>
        <p:spPr>
          <a:xfrm>
            <a:off x="704318" y="5344010"/>
            <a:ext cx="11293717" cy="1082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dirty="0"/>
              <a:t>I risultati sono differenti perché </a:t>
            </a:r>
            <a:r>
              <a:rPr lang="it-IT" sz="2400" i="1" dirty="0"/>
              <a:t>ALL(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 </a:t>
            </a:r>
            <a:r>
              <a:rPr lang="it-IT" sz="2400" dirty="0"/>
              <a:t>non considera i duplicati nella colonna.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0EE714E-3394-CAC9-02DC-BCABC300F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359" y="3336701"/>
            <a:ext cx="5281118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23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0A11-BCC4-2215-0462-888CDBA6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83439F-97E3-CF15-69FC-356862FB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Funzione RELATED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9B01E0E-D62C-40CF-FF68-593BBB930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9598"/>
            <a:ext cx="11497735" cy="48919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Il contesto di filtro si propaga tra le tabelle tramite le relazioni.</a:t>
            </a:r>
          </a:p>
          <a:p>
            <a:pPr marL="0" indent="0">
              <a:buNone/>
            </a:pPr>
            <a:r>
              <a:rPr lang="it-IT" sz="2400" dirty="0"/>
              <a:t>Questo invece NON ACCADE per il contesto di riga, relativo ad esempio all'iterazione di calcolo nel secondo argomento di SUMX. </a:t>
            </a:r>
          </a:p>
          <a:p>
            <a:pPr marL="0" indent="0">
              <a:buNone/>
            </a:pPr>
            <a:r>
              <a:rPr lang="it-IT" sz="2400" dirty="0"/>
              <a:t>In questo caso occorre utilizzare esplicitamente la funzione RELATED per usare nel calcolo il valore presente in una tabella relazionata a quella del primo argomento.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Importo Spedizione = </a:t>
            </a:r>
          </a:p>
          <a:p>
            <a:pPr marL="0" indent="0">
              <a:buNone/>
            </a:pPr>
            <a:r>
              <a:rPr lang="it-IT" sz="2400" i="1" dirty="0"/>
              <a:t>   SUMX(</a:t>
            </a:r>
          </a:p>
          <a:p>
            <a:pPr marL="0" indent="0">
              <a:buNone/>
            </a:pPr>
            <a:r>
              <a:rPr lang="it-IT" sz="2400" i="1" dirty="0"/>
              <a:t>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[Commissione]+RELATED(</a:t>
            </a:r>
            <a:r>
              <a:rPr lang="it-IT" sz="2400" i="1" dirty="0" err="1"/>
              <a:t>tbl_Corrieri</a:t>
            </a:r>
            <a:r>
              <a:rPr lang="it-IT" sz="2400" i="1" dirty="0"/>
              <a:t>[Spedizione]) </a:t>
            </a:r>
          </a:p>
          <a:p>
            <a:pPr marL="0" indent="0">
              <a:buNone/>
            </a:pPr>
            <a:r>
              <a:rPr lang="it-IT" sz="2400" i="1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582875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731C-AA5D-450F-7DB8-3270DB42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24E34-EA86-3AAB-94FE-9441CBF8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8" y="1585732"/>
            <a:ext cx="3948494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CALCULATE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36F3E86B-AF93-AEDB-3DE4-1DBEB6301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36AA-02CE-42EB-9B63-15908515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1FABB-8240-601C-9275-3F4C4031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Prim</a:t>
            </a:r>
            <a:r>
              <a:rPr lang="it-IT" b="1" dirty="0"/>
              <a:t>i passi con CALCULATE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76D1923-4486-3109-4092-6C064B0D8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9598"/>
            <a:ext cx="11734801" cy="4891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Calcoliamo diversamente la somma delle fatture con importo maggiore di 10</a:t>
            </a:r>
          </a:p>
          <a:p>
            <a:pPr marL="0" indent="0">
              <a:buNone/>
            </a:pPr>
            <a:endParaRPr lang="it-IT" sz="1200" dirty="0"/>
          </a:p>
          <a:p>
            <a:pPr marL="0" indent="0">
              <a:buNone/>
            </a:pPr>
            <a:r>
              <a:rPr lang="it-IT" sz="2400" i="1" dirty="0"/>
              <a:t>Somma fatture alte con </a:t>
            </a:r>
            <a:r>
              <a:rPr lang="it-IT" sz="2400" i="1" dirty="0" err="1"/>
              <a:t>calculate</a:t>
            </a:r>
            <a:r>
              <a:rPr lang="it-IT" sz="2400" i="1" dirty="0"/>
              <a:t> = </a:t>
            </a:r>
          </a:p>
          <a:p>
            <a:pPr marL="0" indent="0">
              <a:buNone/>
            </a:pPr>
            <a:r>
              <a:rPr lang="it-IT" sz="2400" i="1" dirty="0"/>
              <a:t>    CALCULATE(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 ),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  <a:endParaRPr lang="it-IT" sz="2400" dirty="0"/>
          </a:p>
          <a:p>
            <a:pPr marL="0" indent="0">
              <a:buNone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279209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9130-12B3-5D36-415A-8CCF2FC6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97B494-0B69-2C03-213C-3748F272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Come lavora CALCULATE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A97307-E105-A3EA-B07B-62046A4FA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99598"/>
            <a:ext cx="11554180" cy="48919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funzione CALCULATE valuta il primo argomento nel contesto di filtro </a:t>
            </a:r>
            <a:r>
              <a:rPr lang="it-IT" sz="2400" b="1" dirty="0"/>
              <a:t>modificato</a:t>
            </a:r>
            <a:r>
              <a:rPr lang="it-IT" sz="2400" dirty="0"/>
              <a:t> dal secondo argomento. 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dirty="0"/>
              <a:t>Nella misura precedente, ad esempio, il contesto di filtro è modificato per ciò che riguarda la colonna </a:t>
            </a:r>
            <a:r>
              <a:rPr lang="it-IT" sz="2400" i="1" dirty="0" err="1"/>
              <a:t>tbl_Fatture</a:t>
            </a:r>
            <a:r>
              <a:rPr lang="it-IT" sz="2400" i="1" dirty="0"/>
              <a:t>[Importo]</a:t>
            </a:r>
            <a:r>
              <a:rPr lang="it-IT" sz="2400" dirty="0"/>
              <a:t>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Se nel contesto fosse presente un filtro su tale colonna (ad esempio tramite uno </a:t>
            </a:r>
            <a:r>
              <a:rPr lang="it-IT" sz="2400" dirty="0" err="1"/>
              <a:t>slicer</a:t>
            </a:r>
            <a:r>
              <a:rPr lang="it-IT" sz="2400" dirty="0"/>
              <a:t>) esso sarebbe rimosso e sostituito con il filtro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dirty="0"/>
              <a:t>In questo caso, eventuali filtri su altre colonne non sono modificati.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Alla luce di ciò, viene valutato il primo argomento.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807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168B1-9359-2302-8B04-43E1DAE3D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439839-C889-91F8-2634-43387F58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Modo equivalente (più lungo)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F807427-F0F0-6771-43D0-8FD70C7B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9598"/>
            <a:ext cx="11734801" cy="5375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Questo codice è equivalente al precedente</a:t>
            </a:r>
          </a:p>
          <a:p>
            <a:pPr marL="0" indent="0">
              <a:buNone/>
            </a:pPr>
            <a:r>
              <a:rPr lang="it-IT" sz="2400" i="1" dirty="0"/>
              <a:t>Somma fatture alte con </a:t>
            </a:r>
            <a:r>
              <a:rPr lang="it-IT" sz="2400" i="1" dirty="0" err="1"/>
              <a:t>calculate</a:t>
            </a:r>
            <a:r>
              <a:rPr lang="it-IT" sz="2400" i="1" dirty="0"/>
              <a:t> = </a:t>
            </a:r>
          </a:p>
          <a:p>
            <a:pPr marL="0" indent="0">
              <a:buNone/>
            </a:pPr>
            <a:r>
              <a:rPr lang="it-IT" sz="2400" i="1" dirty="0"/>
              <a:t>    CALCULATE(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),</a:t>
            </a:r>
          </a:p>
          <a:p>
            <a:pPr marL="0" indent="0">
              <a:buNone/>
            </a:pPr>
            <a:r>
              <a:rPr lang="it-IT" sz="2400" i="1" dirty="0"/>
              <a:t>        FILTER(</a:t>
            </a:r>
          </a:p>
          <a:p>
            <a:pPr marL="0" indent="0">
              <a:buNone/>
            </a:pPr>
            <a:r>
              <a:rPr lang="it-IT" sz="2400" i="1" dirty="0"/>
              <a:t>	ALL(</a:t>
            </a:r>
            <a:r>
              <a:rPr lang="it-IT" sz="2400" i="1" dirty="0" err="1"/>
              <a:t>tbl_Fatture</a:t>
            </a:r>
            <a:r>
              <a:rPr lang="it-IT" sz="2400" i="1" dirty="0"/>
              <a:t>),</a:t>
            </a:r>
          </a:p>
          <a:p>
            <a:pPr marL="0" indent="0">
              <a:buNone/>
            </a:pPr>
            <a:r>
              <a:rPr lang="it-IT" sz="2400" i="1" dirty="0"/>
              <a:t>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  <a:endParaRPr lang="it-IT" sz="2400" dirty="0"/>
          </a:p>
          <a:p>
            <a:pPr marL="0" indent="0">
              <a:buNone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541653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B021-F531-0057-192A-3D078D7A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31F787-FD6D-42BB-8357-D2127A0D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Qual è la differenza rispetto alla misura con filter?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8511683-2B7F-F25B-2CA0-BD9A1D81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14500"/>
            <a:ext cx="11294920" cy="4577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Riprendiamo la stessa misura che abbiamo usato qualche slide precedente senza CALCULATE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fatture alte =</a:t>
            </a:r>
          </a:p>
          <a:p>
            <a:pPr marL="0" indent="0">
              <a:buNone/>
            </a:pPr>
            <a:r>
              <a:rPr lang="it-IT" sz="2400" i="1" dirty="0"/>
              <a:t>      SUMX(</a:t>
            </a:r>
          </a:p>
          <a:p>
            <a:pPr marL="0" indent="0">
              <a:buNone/>
            </a:pPr>
            <a:r>
              <a:rPr lang="it-IT" sz="2400" i="1" dirty="0"/>
              <a:t>          FILTER(</a:t>
            </a:r>
          </a:p>
          <a:p>
            <a:pPr marL="0" indent="0">
              <a:buNone/>
            </a:pPr>
            <a:r>
              <a:rPr lang="it-IT" sz="2400" i="1" dirty="0"/>
              <a:t>  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</a:t>
            </a:r>
          </a:p>
          <a:p>
            <a:pPr marL="0" indent="0">
              <a:buNone/>
            </a:pPr>
            <a:r>
              <a:rPr lang="it-IT" sz="2400" i="1" dirty="0"/>
              <a:t>          ),</a:t>
            </a:r>
          </a:p>
          <a:p>
            <a:pPr marL="0" indent="0">
              <a:buNone/>
            </a:pPr>
            <a:r>
              <a:rPr lang="it-IT" sz="2400" i="1" dirty="0"/>
              <a:t>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)</a:t>
            </a:r>
          </a:p>
          <a:p>
            <a:pPr marL="0" indent="0">
              <a:buNone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654182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EB09-778A-9537-889C-F48EA4E3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D568BA-B012-E64B-55C2-2A805C0E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Aggiungiamo uno </a:t>
            </a:r>
            <a:r>
              <a:rPr lang="it-IT" b="1" dirty="0" err="1"/>
              <a:t>slicer</a:t>
            </a:r>
            <a:r>
              <a:rPr lang="it-IT" b="1" dirty="0"/>
              <a:t> sull'importo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266A3C8-0F44-FFC2-C739-E7422169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3896590"/>
            <a:ext cx="11294920" cy="2145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misura con CALCULATE esclude l'effetto dello </a:t>
            </a:r>
            <a:r>
              <a:rPr lang="it-IT" sz="2400" dirty="0" err="1"/>
              <a:t>slicer</a:t>
            </a:r>
            <a:r>
              <a:rPr lang="it-IT" sz="2400" dirty="0"/>
              <a:t>, in quanto nel secondo argomento è presente una condizione relativa alla stessa colonna che modifica il contesto.</a:t>
            </a:r>
          </a:p>
          <a:p>
            <a:pPr marL="0" indent="0">
              <a:buNone/>
            </a:pPr>
            <a:r>
              <a:rPr lang="it-IT" sz="2400" dirty="0"/>
              <a:t>La misura con FILTER non modifica il contesto, semplicemente ad esso aggiunge un ulteriore filtro.</a:t>
            </a:r>
            <a:endParaRPr lang="en-US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1261E6D-0344-5686-B549-ACBDF5D1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600042"/>
            <a:ext cx="9487722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210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169E-D4BF-859D-886A-A1B5E4C4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ACD7FE-4076-1337-1BB5-B39ABB41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Utilizzo di KEEPFILTERS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6CC198-E95A-B92C-9CBC-173C72D0F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444335"/>
            <a:ext cx="11294920" cy="5288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Se all'interno di CALCULATE, vogliamo che la condizione </a:t>
            </a:r>
            <a:r>
              <a:rPr lang="it-IT" sz="2400" b="1" dirty="0"/>
              <a:t>si aggiunga </a:t>
            </a:r>
            <a:r>
              <a:rPr lang="it-IT" sz="2400" dirty="0"/>
              <a:t>al filtro di contesto, senza sostituire la parte relativa alla medesima colonna, dovrò usare la funzione KEEPFILTERS.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i="1" dirty="0"/>
              <a:t>Somma fatture alte con </a:t>
            </a:r>
            <a:r>
              <a:rPr lang="it-IT" sz="2400" i="1" dirty="0" err="1"/>
              <a:t>calculate</a:t>
            </a:r>
            <a:r>
              <a:rPr lang="it-IT" sz="2400" i="1" dirty="0"/>
              <a:t> = </a:t>
            </a:r>
          </a:p>
          <a:p>
            <a:pPr marL="0" indent="0">
              <a:buNone/>
            </a:pPr>
            <a:r>
              <a:rPr lang="it-IT" sz="2400" i="1" dirty="0"/>
              <a:t>    CALCULATE(</a:t>
            </a:r>
          </a:p>
          <a:p>
            <a:pPr marL="0" indent="0">
              <a:buNone/>
            </a:pPr>
            <a:r>
              <a:rPr lang="it-IT" sz="2400" i="1" dirty="0"/>
              <a:t>        SUMX(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[Importo]-</a:t>
            </a:r>
            <a:r>
              <a:rPr lang="it-IT" sz="2400" i="1" dirty="0" err="1"/>
              <a:t>tbl_Fatture</a:t>
            </a:r>
            <a:r>
              <a:rPr lang="it-IT" sz="2400" i="1" dirty="0"/>
              <a:t>[Commissione]</a:t>
            </a:r>
          </a:p>
          <a:p>
            <a:pPr marL="0" indent="0">
              <a:buNone/>
            </a:pPr>
            <a:r>
              <a:rPr lang="it-IT" sz="2400" i="1" dirty="0"/>
              <a:t>         ),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b="1" i="1" dirty="0"/>
              <a:t>KEEPFILTERS</a:t>
            </a:r>
            <a:r>
              <a:rPr lang="it-IT" sz="2400" i="1" dirty="0"/>
              <a:t>(</a:t>
            </a:r>
            <a:r>
              <a:rPr lang="it-IT" sz="2400" i="1" dirty="0" err="1"/>
              <a:t>tbl_Fatture</a:t>
            </a:r>
            <a:r>
              <a:rPr lang="it-IT" sz="2400" i="1" dirty="0"/>
              <a:t>[Importo]&gt;10 )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  <a:endParaRPr lang="it-IT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2698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6319-8722-4C15-68C0-324397BB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F92BF0-A66B-4C5D-C7B1-5CB106EF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40" y="322119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Riscriviamo il calcolo della percentuale sul totale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07554A3-CE6E-B63C-DDE8-F2C244A8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537854"/>
            <a:ext cx="11294920" cy="47902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Inserendo </a:t>
            </a:r>
            <a:r>
              <a:rPr lang="it-IT" sz="2400" i="1" dirty="0"/>
              <a:t>ALL(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IdFornitore</a:t>
            </a:r>
            <a:r>
              <a:rPr lang="it-IT" sz="2400" i="1" dirty="0"/>
              <a:t>]) </a:t>
            </a:r>
            <a:r>
              <a:rPr lang="it-IT" sz="2400" dirty="0"/>
              <a:t>nel secondo argomento di CALCULATE, modifichiamo il contesto di filtro in cui è valutata la misura nel primo argomento. Escludiamo da esso tutto ciò che riguarda la colonna 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IdFornitore</a:t>
            </a:r>
            <a:r>
              <a:rPr lang="it-IT" sz="2400" i="1" dirty="0"/>
              <a:t>]</a:t>
            </a:r>
          </a:p>
          <a:p>
            <a:pPr marL="0" indent="0">
              <a:buNone/>
            </a:pPr>
            <a:endParaRPr lang="it-IT" sz="800" i="1" dirty="0"/>
          </a:p>
          <a:p>
            <a:pPr marL="0" indent="0">
              <a:buNone/>
            </a:pPr>
            <a:r>
              <a:rPr lang="it-IT" sz="2400" i="1" dirty="0"/>
              <a:t>% Importo Netto con </a:t>
            </a:r>
            <a:r>
              <a:rPr lang="it-IT" sz="2400" i="1" dirty="0" err="1"/>
              <a:t>Calculate</a:t>
            </a:r>
            <a:r>
              <a:rPr lang="it-IT" sz="2400" i="1" dirty="0"/>
              <a:t> = 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DIVIDE(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CALCULATE( 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    [Somma Importo Netto],</a:t>
            </a:r>
            <a:endParaRPr lang="en-US" sz="2400" dirty="0"/>
          </a:p>
          <a:p>
            <a:pPr marL="0" indent="0">
              <a:buNone/>
            </a:pPr>
            <a:r>
              <a:rPr lang="it-IT" sz="2400" b="1" i="1" dirty="0"/>
              <a:t>            ALL(</a:t>
            </a:r>
            <a:r>
              <a:rPr lang="it-IT" sz="2400" b="1" i="1" dirty="0" err="1"/>
              <a:t>tbl_Fatture</a:t>
            </a:r>
            <a:r>
              <a:rPr lang="it-IT" sz="2400" b="1" i="1" dirty="0"/>
              <a:t>[</a:t>
            </a:r>
            <a:r>
              <a:rPr lang="it-IT" sz="2400" b="1" i="1" dirty="0" err="1"/>
              <a:t>IdFornitore</a:t>
            </a:r>
            <a:r>
              <a:rPr lang="it-IT" sz="2400" b="1" i="1" dirty="0"/>
              <a:t>])</a:t>
            </a:r>
            <a:endParaRPr lang="en-US" sz="2400" b="1" dirty="0"/>
          </a:p>
          <a:p>
            <a:pPr marL="0" indent="0">
              <a:buNone/>
            </a:pPr>
            <a:r>
              <a:rPr lang="it-IT" sz="2400" i="1" dirty="0"/>
              <a:t>         )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848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3DC9-9C65-30DE-39A7-6528B290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7D7AB-CDD9-2A72-4AB6-35806ED7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Riscriviamo il calcolo del fornitore 1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7B1433E-6385-4521-B104-4FB68A61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48109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i="1" dirty="0"/>
              <a:t>% Importo su fornitore 1 corretto </a:t>
            </a:r>
            <a:r>
              <a:rPr lang="it-IT" sz="2400" i="1" dirty="0" err="1"/>
              <a:t>calculate</a:t>
            </a:r>
            <a:r>
              <a:rPr lang="it-IT" sz="2400" i="1" dirty="0"/>
              <a:t> = 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DIVIDE( 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CALCULATE(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    [Somma Importo Netto], 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    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IdFornitore</a:t>
            </a:r>
            <a:r>
              <a:rPr lang="it-IT" sz="2400" i="1" dirty="0"/>
              <a:t>]=1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   )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     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49661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8FBA-9488-CC4C-8371-EF125C5F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171421-D461-5438-C5D4-94EBE220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4672178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MODIFICATORI IN CALCULATE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7E83E12E-5DBB-8D55-D49F-4CB256096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371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F3CD-38EE-4871-148A-5F66905A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78D58F-56DC-C7F3-C3C5-E62B60B5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Creiamo una Data </a:t>
            </a:r>
            <a:r>
              <a:rPr lang="it-IT" b="1" dirty="0" err="1"/>
              <a:t>Table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0FBDD88-0914-0B4B-AE7B-674A7C3FB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2442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i="1" dirty="0" err="1"/>
              <a:t>tbl_Date</a:t>
            </a:r>
            <a:r>
              <a:rPr lang="it-IT" sz="2000" i="1" dirty="0"/>
              <a:t> = </a:t>
            </a:r>
            <a:endParaRPr lang="en-US" sz="2000" dirty="0"/>
          </a:p>
          <a:p>
            <a:pPr marL="0" indent="0">
              <a:buNone/>
            </a:pPr>
            <a:r>
              <a:rPr lang="it-IT" sz="2000" i="1" dirty="0"/>
              <a:t>VAR </a:t>
            </a:r>
            <a:r>
              <a:rPr lang="it-IT" sz="2000" i="1" dirty="0" err="1"/>
              <a:t>MinYear</a:t>
            </a:r>
            <a:r>
              <a:rPr lang="it-IT" sz="2000" i="1" dirty="0"/>
              <a:t> = YEAR ( MIN (</a:t>
            </a:r>
            <a:r>
              <a:rPr lang="it-IT" sz="2000" i="1" dirty="0" err="1"/>
              <a:t>tbl_Fatture</a:t>
            </a:r>
            <a:r>
              <a:rPr lang="it-IT" sz="2000" i="1" dirty="0"/>
              <a:t>[</a:t>
            </a:r>
            <a:r>
              <a:rPr lang="it-IT" sz="2000" i="1" dirty="0" err="1"/>
              <a:t>DataFattura</a:t>
            </a:r>
            <a:r>
              <a:rPr lang="it-IT" sz="2000" i="1" dirty="0"/>
              <a:t>] ) )</a:t>
            </a:r>
            <a:endParaRPr lang="en-US" sz="2000" dirty="0"/>
          </a:p>
          <a:p>
            <a:pPr marL="0" indent="0">
              <a:buNone/>
            </a:pPr>
            <a:r>
              <a:rPr lang="it-IT" sz="2000" i="1" dirty="0"/>
              <a:t>VAR </a:t>
            </a:r>
            <a:r>
              <a:rPr lang="it-IT" sz="2000" i="1" dirty="0" err="1"/>
              <a:t>MaxYear</a:t>
            </a:r>
            <a:r>
              <a:rPr lang="it-IT" sz="2000" i="1" dirty="0"/>
              <a:t> = </a:t>
            </a:r>
            <a:endParaRPr lang="en-US" sz="2000" dirty="0"/>
          </a:p>
          <a:p>
            <a:pPr marL="0" indent="0">
              <a:buNone/>
            </a:pPr>
            <a:r>
              <a:rPr lang="it-IT" sz="2000" i="1" dirty="0"/>
              <a:t>    IF(MAX ( </a:t>
            </a:r>
            <a:r>
              <a:rPr lang="it-IT" sz="2000" i="1" dirty="0" err="1"/>
              <a:t>tbl_Fatture</a:t>
            </a:r>
            <a:r>
              <a:rPr lang="it-IT" sz="2000" i="1" dirty="0"/>
              <a:t>[</a:t>
            </a:r>
            <a:r>
              <a:rPr lang="it-IT" sz="2000" i="1" dirty="0" err="1"/>
              <a:t>DataFattura</a:t>
            </a:r>
            <a:r>
              <a:rPr lang="it-IT" sz="2000" i="1" dirty="0"/>
              <a:t>] ) &gt; MAX ( </a:t>
            </a:r>
            <a:r>
              <a:rPr lang="it-IT" sz="2000" i="1" dirty="0" err="1"/>
              <a:t>tbl_Fatture</a:t>
            </a:r>
            <a:r>
              <a:rPr lang="it-IT" sz="2000" i="1" dirty="0"/>
              <a:t>[</a:t>
            </a:r>
            <a:r>
              <a:rPr lang="it-IT" sz="2000" i="1" dirty="0" err="1"/>
              <a:t>DataPagamento</a:t>
            </a:r>
            <a:r>
              <a:rPr lang="it-IT" sz="2000" i="1" dirty="0"/>
              <a:t>] ),</a:t>
            </a:r>
            <a:endParaRPr lang="en-US" sz="2000" dirty="0"/>
          </a:p>
          <a:p>
            <a:pPr marL="0" indent="0">
              <a:buNone/>
            </a:pPr>
            <a:r>
              <a:rPr lang="it-IT" sz="2000" i="1" dirty="0"/>
              <a:t>       YEAR ( MAX ( </a:t>
            </a:r>
            <a:r>
              <a:rPr lang="it-IT" sz="2000" i="1" dirty="0" err="1"/>
              <a:t>tbl_Fatture</a:t>
            </a:r>
            <a:r>
              <a:rPr lang="it-IT" sz="2000" i="1" dirty="0"/>
              <a:t>[</a:t>
            </a:r>
            <a:r>
              <a:rPr lang="it-IT" sz="2000" i="1" dirty="0" err="1"/>
              <a:t>DataFattura</a:t>
            </a:r>
            <a:r>
              <a:rPr lang="it-IT" sz="2000" i="1" dirty="0"/>
              <a:t>] ) ),</a:t>
            </a:r>
            <a:endParaRPr lang="en-US" sz="2000" dirty="0"/>
          </a:p>
          <a:p>
            <a:pPr marL="0" indent="0">
              <a:buNone/>
            </a:pPr>
            <a:r>
              <a:rPr lang="it-IT" sz="2000" i="1" dirty="0"/>
              <a:t>       YEAR ( MAX ( </a:t>
            </a:r>
            <a:r>
              <a:rPr lang="it-IT" sz="2000" i="1" dirty="0" err="1"/>
              <a:t>tbl_Fatture</a:t>
            </a:r>
            <a:r>
              <a:rPr lang="it-IT" sz="2000" i="1" dirty="0"/>
              <a:t>[</a:t>
            </a:r>
            <a:r>
              <a:rPr lang="it-IT" sz="2000" i="1" dirty="0" err="1"/>
              <a:t>DataPagamento</a:t>
            </a:r>
            <a:r>
              <a:rPr lang="it-IT" sz="2000" i="1" dirty="0"/>
              <a:t>] ) )  )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RETURN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ADDCOLUMNS(CALENDAR(DATE(MinYear,1,1),DATE(MaxYear,12,31)),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"Anno", "Anno " &amp; YEAR ([Date]),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"</a:t>
            </a:r>
            <a:r>
              <a:rPr lang="en-US" sz="2000" i="1" dirty="0" err="1"/>
              <a:t>Trimestre</a:t>
            </a:r>
            <a:r>
              <a:rPr lang="en-US" sz="2000" i="1" dirty="0"/>
              <a:t>","</a:t>
            </a:r>
            <a:r>
              <a:rPr lang="en-US" sz="2000" i="1" dirty="0" err="1"/>
              <a:t>Trimestre</a:t>
            </a:r>
            <a:r>
              <a:rPr lang="en-US" sz="2000" i="1" dirty="0"/>
              <a:t> " &amp; QUARTER([Date]),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"Mese", FORMAT ([Date], "</a:t>
            </a:r>
            <a:r>
              <a:rPr lang="en-US" sz="2000" i="1" dirty="0" err="1"/>
              <a:t>mmmm</a:t>
            </a:r>
            <a:r>
              <a:rPr lang="en-US" sz="2000" i="1" dirty="0"/>
              <a:t>" ),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"Mese Number", MONTH ([Date]),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    </a:t>
            </a:r>
            <a:r>
              <a:rPr lang="it-IT" sz="2000" i="1" dirty="0"/>
              <a:t>"</a:t>
            </a:r>
            <a:r>
              <a:rPr lang="it-IT" sz="2000" i="1" dirty="0" err="1"/>
              <a:t>Giorno",DAY</a:t>
            </a:r>
            <a:r>
              <a:rPr lang="it-IT" sz="2000" i="1" dirty="0"/>
              <a:t> ([Date]))</a:t>
            </a:r>
            <a:endParaRPr lang="en-US" sz="2000" dirty="0"/>
          </a:p>
          <a:p>
            <a:r>
              <a:rPr lang="en-US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90170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23D9-73CF-C5E3-E030-DEBFE61D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C81289-54C3-3821-269A-EDD89634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Contrassegniamola come tabella data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C0E4B1F-AC27-D0DC-504C-8B40C433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32" y="1668330"/>
            <a:ext cx="9693480" cy="5189670"/>
          </a:xfrm>
          <a:prstGeom prst="rect">
            <a:avLst/>
          </a:prstGeom>
        </p:spPr>
      </p:pic>
      <p:sp>
        <p:nvSpPr>
          <p:cNvPr id="5" name="Freccia in giù 4">
            <a:extLst>
              <a:ext uri="{FF2B5EF4-FFF2-40B4-BE49-F238E27FC236}">
                <a16:creationId xmlns:a16="http://schemas.microsoft.com/office/drawing/2014/main" id="{31E60265-22C3-6A52-128D-3BD2B4BF4658}"/>
              </a:ext>
            </a:extLst>
          </p:cNvPr>
          <p:cNvSpPr/>
          <p:nvPr/>
        </p:nvSpPr>
        <p:spPr>
          <a:xfrm rot="1645751">
            <a:off x="9285524" y="3329096"/>
            <a:ext cx="605927" cy="1323161"/>
          </a:xfrm>
          <a:prstGeom prst="downArrow">
            <a:avLst>
              <a:gd name="adj1" fmla="val 5028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A33D0BDD-F801-46AF-7058-2AD8DF7A8DD0}"/>
              </a:ext>
            </a:extLst>
          </p:cNvPr>
          <p:cNvSpPr/>
          <p:nvPr/>
        </p:nvSpPr>
        <p:spPr>
          <a:xfrm rot="13646480">
            <a:off x="4907488" y="2390451"/>
            <a:ext cx="605927" cy="1323161"/>
          </a:xfrm>
          <a:prstGeom prst="downArrow">
            <a:avLst>
              <a:gd name="adj1" fmla="val 5028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5313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2C41-2843-F6A4-2DB9-1A452D51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0E1D5-5B52-5F98-BCA8-317F55F3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Creiamo due relazioni con la </a:t>
            </a:r>
            <a:r>
              <a:rPr lang="it-IT" b="1" dirty="0" err="1"/>
              <a:t>tbl_Fatture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76B7995-B102-38BA-4454-B33F2C1C1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11814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prima relazione tra </a:t>
            </a:r>
            <a:r>
              <a:rPr lang="it-IT" sz="2400" dirty="0" err="1"/>
              <a:t>DataFattura</a:t>
            </a:r>
            <a:r>
              <a:rPr lang="it-IT" sz="2400" dirty="0"/>
              <a:t> e Date è quella attiva. La seconda tra </a:t>
            </a:r>
            <a:r>
              <a:rPr lang="it-IT" sz="2400" dirty="0" err="1"/>
              <a:t>DataPagamento</a:t>
            </a:r>
            <a:r>
              <a:rPr lang="it-IT" sz="2400" dirty="0"/>
              <a:t> e Date sarà inattiva.</a:t>
            </a:r>
            <a:endParaRPr lang="en-US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D09B3B1-4B9F-0890-9B72-B32CC49C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06" y="2974922"/>
            <a:ext cx="6782388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604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F94A8-2B37-8324-764B-59FDFF72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B0E8A9-9184-454E-AC78-C6781FCA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Utilizziamo la relazione non attiva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9B6AE42-7DBA-71BE-CE9F-7DBB11DB3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Posso utilizzare una relazione inattiva per propagare il filtro di contesto tramite il modificatore USERELATIONSHIP all'interno di CALCULATE.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Importo Netto Data Pagamento =</a:t>
            </a:r>
          </a:p>
          <a:p>
            <a:pPr marL="0" indent="0">
              <a:buNone/>
            </a:pPr>
            <a:r>
              <a:rPr lang="en-US" sz="2400" i="1" dirty="0"/>
              <a:t>    CALCULATE(</a:t>
            </a:r>
          </a:p>
          <a:p>
            <a:pPr marL="0" indent="0">
              <a:buNone/>
            </a:pPr>
            <a:r>
              <a:rPr lang="en-US" sz="2400" i="1" dirty="0"/>
              <a:t>        [</a:t>
            </a:r>
            <a:r>
              <a:rPr lang="en-US" sz="2400" i="1" dirty="0" err="1"/>
              <a:t>M_SommaImportoNetto</a:t>
            </a:r>
            <a:r>
              <a:rPr lang="en-US" sz="2400" i="1" dirty="0"/>
              <a:t>],</a:t>
            </a:r>
          </a:p>
          <a:p>
            <a:pPr marL="0" indent="0">
              <a:buNone/>
            </a:pPr>
            <a:r>
              <a:rPr lang="en-US" sz="2400" i="1" dirty="0"/>
              <a:t>        </a:t>
            </a:r>
            <a:r>
              <a:rPr lang="en-US" sz="2400" b="1" i="1" dirty="0"/>
              <a:t>USERELATIONSHIP</a:t>
            </a:r>
            <a:r>
              <a:rPr lang="en-US" sz="2400" i="1" dirty="0"/>
              <a:t>(</a:t>
            </a:r>
          </a:p>
          <a:p>
            <a:pPr marL="0" indent="0">
              <a:buNone/>
            </a:pPr>
            <a:r>
              <a:rPr lang="en-US" sz="2400" i="1" dirty="0"/>
              <a:t>            </a:t>
            </a:r>
            <a:r>
              <a:rPr lang="en-US" sz="2400" i="1" dirty="0" err="1"/>
              <a:t>tbl_Fatture</a:t>
            </a:r>
            <a:r>
              <a:rPr lang="en-US" sz="2400" i="1" dirty="0"/>
              <a:t>[</a:t>
            </a:r>
            <a:r>
              <a:rPr lang="en-US" sz="2400" i="1" dirty="0" err="1"/>
              <a:t>DataPagamento</a:t>
            </a:r>
            <a:r>
              <a:rPr lang="en-US" sz="2400" i="1" dirty="0"/>
              <a:t>],</a:t>
            </a:r>
          </a:p>
          <a:p>
            <a:pPr marL="0" indent="0">
              <a:buNone/>
            </a:pPr>
            <a:r>
              <a:rPr lang="en-US" sz="2400" i="1" dirty="0"/>
              <a:t>            </a:t>
            </a:r>
            <a:r>
              <a:rPr lang="en-US" sz="2400" i="1" dirty="0" err="1"/>
              <a:t>tbl_Date</a:t>
            </a:r>
            <a:r>
              <a:rPr lang="en-US" sz="2400" i="1" dirty="0"/>
              <a:t>[Date]</a:t>
            </a:r>
          </a:p>
          <a:p>
            <a:pPr marL="0" indent="0">
              <a:buNone/>
            </a:pPr>
            <a:r>
              <a:rPr lang="en-US" sz="2400" i="1" dirty="0"/>
              <a:t>          )</a:t>
            </a:r>
          </a:p>
          <a:p>
            <a:pPr marL="0" indent="0">
              <a:buNone/>
            </a:pPr>
            <a:r>
              <a:rPr lang="en-US" sz="2400" i="1" dirty="0"/>
              <a:t>      )</a:t>
            </a:r>
          </a:p>
        </p:txBody>
      </p:sp>
    </p:spTree>
    <p:extLst>
      <p:ext uri="{BB962C8B-B14F-4D97-AF65-F5344CB8AC3E}">
        <p14:creationId xmlns:p14="http://schemas.microsoft.com/office/powerpoint/2010/main" val="29489760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5024-F2C3-4AB8-F75B-D4535547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A3821E-0565-6926-DB3E-F8E02856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tre misure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AFB2165-0E71-79B0-A5D6-FE5C45D2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i="1" dirty="0"/>
              <a:t>Numero Clienti = COUNTROWS(</a:t>
            </a:r>
            <a:r>
              <a:rPr lang="it-IT" sz="2400" i="1" dirty="0" err="1"/>
              <a:t>tbl_Clienti</a:t>
            </a:r>
            <a:r>
              <a:rPr lang="it-IT" sz="2400" i="1" dirty="0"/>
              <a:t>) 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 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Numero Clienti con </a:t>
            </a:r>
            <a:r>
              <a:rPr lang="it-IT" sz="2400" i="1" dirty="0" err="1"/>
              <a:t>crossfilter</a:t>
            </a:r>
            <a:r>
              <a:rPr lang="it-IT" sz="2400" i="1" dirty="0"/>
              <a:t> = 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    CALCULATE(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        COUNTROWS(</a:t>
            </a:r>
            <a:r>
              <a:rPr lang="it-IT" sz="2400" i="1" dirty="0" err="1"/>
              <a:t>tbl_Clienti</a:t>
            </a:r>
            <a:r>
              <a:rPr lang="it-IT" sz="2400" i="1" dirty="0"/>
              <a:t>),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b="1" i="1" dirty="0"/>
              <a:t>CROSSFILTER</a:t>
            </a:r>
            <a:r>
              <a:rPr lang="it-IT" sz="2400" i="1" dirty="0"/>
              <a:t>(</a:t>
            </a:r>
            <a:r>
              <a:rPr lang="it-IT" sz="2400" i="1" dirty="0" err="1"/>
              <a:t>tbl_Clienti</a:t>
            </a:r>
            <a:r>
              <a:rPr lang="it-IT" sz="2400" i="1" dirty="0"/>
              <a:t>[</a:t>
            </a:r>
            <a:r>
              <a:rPr lang="it-IT" sz="2400" i="1" dirty="0" err="1"/>
              <a:t>IdCliente</a:t>
            </a:r>
            <a:r>
              <a:rPr lang="it-IT" sz="2400" i="1" dirty="0"/>
              <a:t>],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IdCliente</a:t>
            </a:r>
            <a:r>
              <a:rPr lang="it-IT" sz="2400" i="1" dirty="0"/>
              <a:t>],</a:t>
            </a:r>
            <a:r>
              <a:rPr lang="it-IT" sz="2400" i="1" dirty="0" err="1"/>
              <a:t>Both</a:t>
            </a:r>
            <a:r>
              <a:rPr lang="it-IT" sz="2400" i="1" dirty="0"/>
              <a:t>))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 </a:t>
            </a: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Numero Clienti 2 = DISTINCTCOUNT(</a:t>
            </a:r>
            <a:r>
              <a:rPr lang="it-IT" sz="2400" i="1" dirty="0" err="1"/>
              <a:t>tbl_Fatture</a:t>
            </a:r>
            <a:r>
              <a:rPr lang="it-IT" sz="2400" i="1" dirty="0"/>
              <a:t>[</a:t>
            </a:r>
            <a:r>
              <a:rPr lang="it-IT" sz="2400" i="1" dirty="0" err="1"/>
              <a:t>IdCliente</a:t>
            </a:r>
            <a:r>
              <a:rPr lang="it-IT" sz="2400" i="1" dirty="0"/>
              <a:t>])</a:t>
            </a:r>
            <a:endParaRPr lang="en-US" sz="2400" i="1" dirty="0"/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9459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758F3-1312-D82B-A97F-E986F4D6D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5C58F-22DC-8D33-1740-E767935B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Risultati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F7C2682-10B9-3093-DCDB-ADED5E85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65" y="2913485"/>
            <a:ext cx="7777019" cy="3134023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6510570-2139-9B29-9B8F-AEDB7354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Inseriamo</a:t>
            </a:r>
            <a:r>
              <a:rPr lang="en-US" sz="2400" dirty="0"/>
              <a:t> uno slicer </a:t>
            </a:r>
            <a:r>
              <a:rPr lang="en-US" sz="2400" dirty="0" err="1"/>
              <a:t>sull'anno</a:t>
            </a:r>
            <a:r>
              <a:rPr lang="en-US" sz="2400" dirty="0"/>
              <a:t> e </a:t>
            </a:r>
            <a:r>
              <a:rPr lang="en-US" sz="2400" dirty="0" err="1"/>
              <a:t>confrontiamo</a:t>
            </a:r>
            <a:r>
              <a:rPr lang="en-US" sz="2400" dirty="0"/>
              <a:t> </a:t>
            </a:r>
            <a:r>
              <a:rPr lang="en-US" sz="2400" dirty="0" err="1"/>
              <a:t>queste</a:t>
            </a:r>
            <a:r>
              <a:rPr lang="en-US" sz="2400" dirty="0"/>
              <a:t> </a:t>
            </a:r>
            <a:r>
              <a:rPr lang="en-US" sz="2400" dirty="0" err="1"/>
              <a:t>tre</a:t>
            </a:r>
            <a:r>
              <a:rPr lang="en-US" sz="2400" dirty="0"/>
              <a:t> </a:t>
            </a:r>
            <a:r>
              <a:rPr lang="en-US" sz="2400" dirty="0" err="1"/>
              <a:t>misure</a:t>
            </a:r>
            <a:r>
              <a:rPr lang="en-US" sz="2400" dirty="0"/>
              <a:t>. </a:t>
            </a:r>
            <a:r>
              <a:rPr lang="en-US" sz="2400" dirty="0" err="1"/>
              <a:t>Tramite</a:t>
            </a:r>
            <a:r>
              <a:rPr lang="en-US" sz="2400" dirty="0"/>
              <a:t> CROSSFILTER </a:t>
            </a:r>
            <a:r>
              <a:rPr lang="en-US" sz="2400" dirty="0" err="1"/>
              <a:t>posso</a:t>
            </a:r>
            <a:r>
              <a:rPr lang="en-US" sz="2400" dirty="0"/>
              <a:t> far </a:t>
            </a:r>
            <a:r>
              <a:rPr lang="en-US" sz="2400" dirty="0" err="1"/>
              <a:t>propagare</a:t>
            </a:r>
            <a:r>
              <a:rPr lang="en-US" sz="2400" dirty="0"/>
              <a:t> il </a:t>
            </a:r>
            <a:r>
              <a:rPr lang="en-US" sz="2400" dirty="0" err="1"/>
              <a:t>contesto</a:t>
            </a:r>
            <a:r>
              <a:rPr lang="en-US" sz="2400" dirty="0"/>
              <a:t> di </a:t>
            </a:r>
            <a:r>
              <a:rPr lang="en-US" sz="2400" dirty="0" err="1"/>
              <a:t>filtro</a:t>
            </a:r>
            <a:r>
              <a:rPr lang="en-US" sz="2400" dirty="0"/>
              <a:t> da </a:t>
            </a:r>
            <a:r>
              <a:rPr lang="it-IT" sz="2400" i="1" dirty="0" err="1"/>
              <a:t>tbl_Fatture</a:t>
            </a:r>
            <a:r>
              <a:rPr lang="it-IT" sz="2400" i="1" dirty="0"/>
              <a:t> </a:t>
            </a:r>
            <a:r>
              <a:rPr lang="en-US" sz="2400" dirty="0"/>
              <a:t>(</a:t>
            </a:r>
            <a:r>
              <a:rPr lang="en-US" sz="2400" dirty="0" err="1"/>
              <a:t>proveniente</a:t>
            </a:r>
            <a:r>
              <a:rPr lang="en-US" sz="2400" dirty="0"/>
              <a:t> </a:t>
            </a:r>
            <a:r>
              <a:rPr lang="en-US" sz="2400" dirty="0" err="1"/>
              <a:t>dallo</a:t>
            </a:r>
            <a:r>
              <a:rPr lang="en-US" sz="2400" dirty="0"/>
              <a:t> slicer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i="1" dirty="0" err="1"/>
              <a:t>tbl_Date</a:t>
            </a:r>
            <a:r>
              <a:rPr lang="en-US" sz="2400" dirty="0"/>
              <a:t>) verso </a:t>
            </a:r>
            <a:r>
              <a:rPr lang="it-IT" sz="2400" i="1" dirty="0" err="1"/>
              <a:t>tbl_Clienti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9292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1034-0CA8-A419-86B4-19EC6A13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17AF86-944C-59BC-DB7B-D44DF9B8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4672178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ALTRI ESEMPI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157BE254-CA5C-C5CA-A3E8-0891729D0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181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0BB2-72FC-B940-D9B6-900AF3A5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A0CA2C-8ACB-F8C4-B879-6BAF2B0B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Percentuali sul t</a:t>
            </a:r>
            <a:r>
              <a:rPr lang="it-IT" b="1" dirty="0"/>
              <a:t>otale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CB78888-A0FB-9D1F-4521-FE4288B5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Utilizziamo ALL() senza specificare tabelle o colonne per rimuovere </a:t>
            </a:r>
            <a:r>
              <a:rPr lang="it-IT" sz="2400" b="1" dirty="0"/>
              <a:t>tutti</a:t>
            </a:r>
            <a:r>
              <a:rPr lang="it-IT" sz="2400" dirty="0"/>
              <a:t> i filtri del contesto.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Netto su Totale = </a:t>
            </a:r>
          </a:p>
          <a:p>
            <a:pPr marL="0" indent="0">
              <a:buNone/>
            </a:pPr>
            <a:r>
              <a:rPr lang="it-IT" sz="2400" i="1" dirty="0"/>
              <a:t>    DIVIDE(</a:t>
            </a:r>
          </a:p>
          <a:p>
            <a:pPr marL="0" indent="0">
              <a:buNone/>
            </a:pPr>
            <a:r>
              <a:rPr lang="it-IT" sz="2400" i="1" dirty="0"/>
              <a:t>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CALCULATE( </a:t>
            </a:r>
          </a:p>
          <a:p>
            <a:pPr marL="0" indent="0">
              <a:buNone/>
            </a:pPr>
            <a:r>
              <a:rPr lang="it-IT" sz="2400" i="1" dirty="0"/>
              <a:t>    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    ALL()</a:t>
            </a:r>
          </a:p>
          <a:p>
            <a:pPr marL="0" indent="0">
              <a:buNone/>
            </a:pPr>
            <a:r>
              <a:rPr lang="it-IT" sz="2400" i="1" dirty="0"/>
              <a:t>  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36888560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953AC-8402-D1AA-4983-CE832250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C1A59C-24FD-10CE-273F-B1868717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Percentuali sul t</a:t>
            </a:r>
            <a:r>
              <a:rPr lang="it-IT" b="1" dirty="0"/>
              <a:t>otale padre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CBBFBE7-3593-9C6F-CB4A-2C351AC12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In questo modo rimuoviamo soltanto i filtri sulla colonna </a:t>
            </a:r>
            <a:r>
              <a:rPr lang="it-IT" sz="2400" i="1" dirty="0" err="1"/>
              <a:t>tbl_clienti</a:t>
            </a:r>
            <a:r>
              <a:rPr lang="it-IT" sz="2400" i="1" dirty="0"/>
              <a:t>[Regione]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% Importo Netto su Totale Padre = </a:t>
            </a:r>
          </a:p>
          <a:p>
            <a:pPr marL="0" indent="0">
              <a:buNone/>
            </a:pPr>
            <a:r>
              <a:rPr lang="it-IT" sz="2400" i="1" dirty="0"/>
              <a:t>   DIVIDE(</a:t>
            </a:r>
          </a:p>
          <a:p>
            <a:pPr marL="0" indent="0">
              <a:buNone/>
            </a:pPr>
            <a:r>
              <a:rPr lang="it-IT" sz="2400" i="1" dirty="0"/>
              <a:t>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CALCULATE( </a:t>
            </a:r>
          </a:p>
          <a:p>
            <a:pPr marL="0" indent="0">
              <a:buNone/>
            </a:pPr>
            <a:r>
              <a:rPr lang="it-IT" sz="2400" i="1" dirty="0"/>
              <a:t>    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    ALL(</a:t>
            </a:r>
            <a:r>
              <a:rPr lang="it-IT" sz="2400" i="1" dirty="0" err="1"/>
              <a:t>tbl_clienti</a:t>
            </a:r>
            <a:r>
              <a:rPr lang="it-IT" sz="2400" i="1" dirty="0"/>
              <a:t>[Regione])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</p:txBody>
      </p:sp>
    </p:spTree>
    <p:extLst>
      <p:ext uri="{BB962C8B-B14F-4D97-AF65-F5344CB8AC3E}">
        <p14:creationId xmlns:p14="http://schemas.microsoft.com/office/powerpoint/2010/main" val="40301823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7588-9647-5DC4-0F17-14E4B45E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B8ABC-7D64-366A-9C09-FB11C77F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Percentuali sul t</a:t>
            </a:r>
            <a:r>
              <a:rPr lang="it-IT" b="1" dirty="0"/>
              <a:t>otale padre con ISINSCOPE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64DDD0-A9F0-5602-60A4-18057EF0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i="1" dirty="0"/>
              <a:t>% Importo Netto su Totale padre bis = </a:t>
            </a:r>
          </a:p>
          <a:p>
            <a:pPr marL="0" indent="0">
              <a:buNone/>
            </a:pPr>
            <a:r>
              <a:rPr lang="it-IT" sz="2400" i="1" dirty="0"/>
              <a:t>    IF(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b="1" i="1" dirty="0"/>
              <a:t>ISINSCOPE</a:t>
            </a:r>
            <a:r>
              <a:rPr lang="it-IT" sz="2400" i="1" dirty="0"/>
              <a:t>(</a:t>
            </a:r>
            <a:r>
              <a:rPr lang="it-IT" sz="2400" i="1" dirty="0" err="1"/>
              <a:t>tbl_Clienti</a:t>
            </a:r>
            <a:r>
              <a:rPr lang="it-IT" sz="2400" i="1" dirty="0"/>
              <a:t>[Regione]),</a:t>
            </a:r>
          </a:p>
          <a:p>
            <a:pPr marL="0" indent="0">
              <a:buNone/>
            </a:pPr>
            <a:r>
              <a:rPr lang="it-IT" sz="2400" i="1" dirty="0"/>
              <a:t>        DIVIDE(</a:t>
            </a:r>
          </a:p>
          <a:p>
            <a:pPr marL="0" indent="0">
              <a:buNone/>
            </a:pPr>
            <a:r>
              <a:rPr lang="it-IT" sz="2400" i="1" dirty="0"/>
              <a:t>    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    CALCULATE( </a:t>
            </a:r>
          </a:p>
          <a:p>
            <a:pPr marL="0" indent="0">
              <a:buNone/>
            </a:pPr>
            <a:r>
              <a:rPr lang="it-IT" sz="2400" i="1" dirty="0"/>
              <a:t>                [Somma Importo Netto],</a:t>
            </a:r>
          </a:p>
          <a:p>
            <a:pPr marL="0" indent="0">
              <a:buNone/>
            </a:pPr>
            <a:r>
              <a:rPr lang="it-IT" sz="2400" i="1" dirty="0"/>
              <a:t>                ALL(</a:t>
            </a:r>
            <a:r>
              <a:rPr lang="it-IT" sz="2400" i="1" dirty="0" err="1"/>
              <a:t>tbl_clienti</a:t>
            </a:r>
            <a:r>
              <a:rPr lang="it-IT" sz="2400" i="1" dirty="0"/>
              <a:t>[Regione])</a:t>
            </a:r>
          </a:p>
          <a:p>
            <a:pPr marL="0" indent="0">
              <a:buNone/>
            </a:pPr>
            <a:r>
              <a:rPr lang="it-IT" sz="2400" i="1" dirty="0"/>
              <a:t>             )</a:t>
            </a:r>
          </a:p>
          <a:p>
            <a:pPr marL="0" indent="0">
              <a:buNone/>
            </a:pPr>
            <a:r>
              <a:rPr lang="it-IT" sz="2400" i="1" dirty="0"/>
              <a:t>         ),</a:t>
            </a:r>
          </a:p>
          <a:p>
            <a:pPr marL="0" indent="0">
              <a:buNone/>
            </a:pPr>
            <a:r>
              <a:rPr lang="it-IT" sz="2400" i="1" dirty="0"/>
              <a:t>        BLANK()</a:t>
            </a:r>
          </a:p>
          <a:p>
            <a:pPr marL="0" indent="0">
              <a:buNone/>
            </a:pPr>
            <a:r>
              <a:rPr lang="it-IT" sz="2400" i="1" dirty="0"/>
              <a:t>   )</a:t>
            </a:r>
          </a:p>
        </p:txBody>
      </p:sp>
    </p:spTree>
    <p:extLst>
      <p:ext uri="{BB962C8B-B14F-4D97-AF65-F5344CB8AC3E}">
        <p14:creationId xmlns:p14="http://schemas.microsoft.com/office/powerpoint/2010/main" val="23528020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B4D7-15D2-C482-88CE-596E8449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3F996C-D20A-76BA-B848-BE7AE8FE2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Risultati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0543FFD-284B-AA6D-FFC8-5DD5594FB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48" y="1761684"/>
            <a:ext cx="8785975" cy="452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55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B1C1-FDDD-2C8E-4DBE-4170CEB6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14F88C-FD15-99FE-F042-D86DAF5C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4672178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TIME INTELLIGENCE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E88A82D5-7002-C34F-BC66-8CA0403D0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920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7FB5-9547-050A-04C4-B0AA5023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4211A-6F17-5138-CD6D-FF147C39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Somma in un intervallo specifico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308760E-F20D-F6BE-164F-06B2936A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Frequentemente userò la funzione CALCULATE per specificare il contesto di filtro riguardo le date. In questo caso ad esempio consideriamo un range fisso.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Importo Giugno 2018 = </a:t>
            </a:r>
          </a:p>
          <a:p>
            <a:pPr marL="0" indent="0">
              <a:buNone/>
            </a:pPr>
            <a:r>
              <a:rPr lang="it-IT" sz="2400" i="1" dirty="0"/>
              <a:t>    CALCULATE(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</a:t>
            </a:r>
          </a:p>
          <a:p>
            <a:pPr marL="0" indent="0">
              <a:buNone/>
            </a:pPr>
            <a:r>
              <a:rPr lang="it-IT" sz="2400" i="1" dirty="0"/>
              <a:t>         </a:t>
            </a:r>
            <a:r>
              <a:rPr lang="it-IT" sz="2400" i="1" dirty="0" err="1"/>
              <a:t>tbl_Date</a:t>
            </a:r>
            <a:r>
              <a:rPr lang="it-IT" sz="2400" i="1" dirty="0"/>
              <a:t>[Date]&gt;=DATE(2018,6,1) &amp;&amp; </a:t>
            </a:r>
            <a:r>
              <a:rPr lang="it-IT" sz="2400" i="1" dirty="0" err="1"/>
              <a:t>tbl_Date</a:t>
            </a:r>
            <a:r>
              <a:rPr lang="it-IT" sz="2400" i="1" dirty="0"/>
              <a:t>[Date]&lt;=DATE(2018,6,30)</a:t>
            </a:r>
          </a:p>
          <a:p>
            <a:pPr marL="0" indent="0">
              <a:buNone/>
            </a:pPr>
            <a:r>
              <a:rPr lang="it-IT" sz="2400" i="1" dirty="0"/>
              <a:t>     )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b="1" dirty="0"/>
              <a:t>ATTENZIONE: in questo casi il filtro su </a:t>
            </a:r>
            <a:r>
              <a:rPr lang="it-IT" sz="2400" b="1" dirty="0" err="1"/>
              <a:t>tbl_Date</a:t>
            </a:r>
            <a:r>
              <a:rPr lang="it-IT" sz="2400" b="1" dirty="0"/>
              <a:t>[Date] rimuove anche i filtri presenti su altre colonne della tabella come </a:t>
            </a:r>
            <a:r>
              <a:rPr lang="it-IT" sz="2400" b="1" dirty="0" err="1"/>
              <a:t>tbl_Date</a:t>
            </a:r>
            <a:r>
              <a:rPr lang="it-IT" sz="2400" b="1" dirty="0"/>
              <a:t>[Anno]</a:t>
            </a:r>
          </a:p>
        </p:txBody>
      </p:sp>
    </p:spTree>
    <p:extLst>
      <p:ext uri="{BB962C8B-B14F-4D97-AF65-F5344CB8AC3E}">
        <p14:creationId xmlns:p14="http://schemas.microsoft.com/office/powerpoint/2010/main" val="32000559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2336-F5A5-5E3E-6663-EF7653CB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3DEB5-DEAE-62D2-6F06-C932E144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Somma da inizio anno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8ED05F-1BC0-E838-E8F9-4BC8D8C0A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Aiutandomi con le variabili posso costruire il range che va dall'inizio dell'anno fino alla data corrente. ATTENZIONE: il calcolo delle variabili è fuori da CALCULATE, quindi sarà fatto nel contesto di filtro corrente.</a:t>
            </a:r>
          </a:p>
          <a:p>
            <a:pPr marL="0" indent="0">
              <a:buNone/>
            </a:pPr>
            <a:endParaRPr lang="it-IT" sz="1200" i="1" dirty="0"/>
          </a:p>
          <a:p>
            <a:pPr marL="0" indent="0">
              <a:buNone/>
            </a:pPr>
            <a:r>
              <a:rPr lang="it-IT" sz="2400" i="1" dirty="0"/>
              <a:t>Somma da Inizio Anno = </a:t>
            </a:r>
          </a:p>
          <a:p>
            <a:pPr marL="0" indent="0">
              <a:buNone/>
            </a:pPr>
            <a:r>
              <a:rPr lang="it-IT" sz="2400" i="1" dirty="0"/>
              <a:t>    VAR Inizio = DATE(YEAR(MAX(</a:t>
            </a:r>
            <a:r>
              <a:rPr lang="it-IT" sz="2400" i="1" dirty="0" err="1"/>
              <a:t>tbl_Date</a:t>
            </a:r>
            <a:r>
              <a:rPr lang="it-IT" sz="2400" i="1" dirty="0"/>
              <a:t>[Date])),1,1)</a:t>
            </a:r>
          </a:p>
          <a:p>
            <a:pPr marL="0" indent="0">
              <a:buNone/>
            </a:pPr>
            <a:r>
              <a:rPr lang="it-IT" sz="2400" i="1" dirty="0"/>
              <a:t>    VAR Fine = MAX(</a:t>
            </a:r>
            <a:r>
              <a:rPr lang="it-IT" sz="2400" i="1" dirty="0" err="1"/>
              <a:t>tbl_Date</a:t>
            </a:r>
            <a:r>
              <a:rPr lang="it-IT" sz="2400" i="1" dirty="0"/>
              <a:t>[Date])</a:t>
            </a:r>
          </a:p>
          <a:p>
            <a:pPr marL="0" indent="0">
              <a:buNone/>
            </a:pPr>
            <a:r>
              <a:rPr lang="it-IT" sz="2400" i="1" dirty="0"/>
              <a:t>    VAR </a:t>
            </a:r>
            <a:r>
              <a:rPr lang="it-IT" sz="2400" i="1" dirty="0" err="1"/>
              <a:t>Result</a:t>
            </a:r>
            <a:r>
              <a:rPr lang="it-IT" sz="2400" i="1" dirty="0"/>
              <a:t> = CALCULATE(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</a:t>
            </a:r>
          </a:p>
          <a:p>
            <a:pPr marL="0" indent="0">
              <a:buNone/>
            </a:pPr>
            <a:r>
              <a:rPr lang="it-IT" sz="2400" i="1" dirty="0"/>
              <a:t>         </a:t>
            </a:r>
            <a:r>
              <a:rPr lang="it-IT" sz="2400" i="1" dirty="0" err="1"/>
              <a:t>tbl_Date</a:t>
            </a:r>
            <a:r>
              <a:rPr lang="it-IT" sz="2400" i="1" dirty="0"/>
              <a:t>[Date]&gt;=Inizio &amp;&amp; </a:t>
            </a:r>
            <a:r>
              <a:rPr lang="it-IT" sz="2400" i="1" dirty="0" err="1"/>
              <a:t>tbl_Date</a:t>
            </a:r>
            <a:r>
              <a:rPr lang="it-IT" sz="2400" i="1" dirty="0"/>
              <a:t>[Date]&lt;=Fine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RETURN </a:t>
            </a:r>
            <a:r>
              <a:rPr lang="it-IT" sz="2400" i="1" dirty="0" err="1"/>
              <a:t>Result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33520446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9410-DE7A-6AB9-0DE9-3A844A0F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3C9F32-39C2-6384-AC21-F2AAA65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Usiamo TOTALYTD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6F750E-CC3B-5006-9F81-388181EAA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0"/>
            <a:ext cx="11294920" cy="5161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DAX ci mette a disposizione la funzione TOTALYTD per arrivare direttamente al risultato precedente.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da Inizio Anno con YTD = </a:t>
            </a:r>
          </a:p>
          <a:p>
            <a:pPr marL="0" indent="0">
              <a:buNone/>
            </a:pPr>
            <a:r>
              <a:rPr lang="it-IT" sz="2400" i="1" dirty="0"/>
              <a:t>    VAR </a:t>
            </a:r>
            <a:r>
              <a:rPr lang="it-IT" sz="2400" i="1" dirty="0" err="1"/>
              <a:t>Result</a:t>
            </a:r>
            <a:r>
              <a:rPr lang="it-IT" sz="2400" i="1" dirty="0"/>
              <a:t> = TOTALYTD( 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 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tbl_Date</a:t>
            </a:r>
            <a:r>
              <a:rPr lang="it-IT" sz="2400" i="1" dirty="0"/>
              <a:t>[Date])</a:t>
            </a:r>
          </a:p>
          <a:p>
            <a:pPr marL="0" indent="0">
              <a:buNone/>
            </a:pPr>
            <a:r>
              <a:rPr lang="it-IT" sz="2400" i="1" dirty="0"/>
              <a:t>    RETURN </a:t>
            </a:r>
            <a:r>
              <a:rPr lang="it-IT" sz="2400" i="1" dirty="0" err="1"/>
              <a:t>Result</a:t>
            </a:r>
            <a:endParaRPr lang="it-IT" sz="2400" i="1" dirty="0"/>
          </a:p>
          <a:p>
            <a:pPr marL="0" indent="0">
              <a:buNone/>
            </a:pP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31962485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0D77-390D-BEE7-E097-435385B5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2921E7-555B-ED2F-319F-0A4F4581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dirty="0"/>
              <a:t>Non visualizziamo il dato per i mesi senza fatture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DA077A5-5676-2326-1C9F-ACE04E1F8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826565"/>
            <a:ext cx="11294920" cy="4464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Tramite una IF possiamo evitare di visualizzare i mesi senza fatture.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da Inizio Anno con YTD 2 = </a:t>
            </a:r>
          </a:p>
          <a:p>
            <a:pPr marL="0" indent="0">
              <a:buNone/>
            </a:pPr>
            <a:r>
              <a:rPr lang="it-IT" sz="2400" i="1" dirty="0"/>
              <a:t>    VAR </a:t>
            </a:r>
            <a:r>
              <a:rPr lang="it-IT" sz="2400" i="1" dirty="0" err="1"/>
              <a:t>Result</a:t>
            </a:r>
            <a:r>
              <a:rPr lang="it-IT" sz="2400" i="1" dirty="0"/>
              <a:t> = TOTALYTD( 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 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tbl_Date</a:t>
            </a:r>
            <a:r>
              <a:rPr lang="it-IT" sz="2400" i="1" dirty="0"/>
              <a:t>[Date])</a:t>
            </a:r>
          </a:p>
          <a:p>
            <a:pPr marL="0" indent="0">
              <a:buNone/>
            </a:pPr>
            <a:r>
              <a:rPr lang="it-IT" sz="2400" i="1" dirty="0"/>
              <a:t>RETURN IF(COUNTROWS(</a:t>
            </a:r>
            <a:r>
              <a:rPr lang="it-IT" sz="2400" i="1" dirty="0" err="1"/>
              <a:t>tbl_Fatture</a:t>
            </a:r>
            <a:r>
              <a:rPr lang="it-IT" sz="2400" i="1" dirty="0"/>
              <a:t>)&gt;0,</a:t>
            </a:r>
          </a:p>
          <a:p>
            <a:pPr marL="0" indent="0">
              <a:buNone/>
            </a:pPr>
            <a:r>
              <a:rPr lang="it-IT" sz="2400" i="1" dirty="0"/>
              <a:t>    </a:t>
            </a:r>
            <a:r>
              <a:rPr lang="it-IT" sz="2400" i="1" dirty="0" err="1"/>
              <a:t>Result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BLANK())</a:t>
            </a:r>
          </a:p>
          <a:p>
            <a:pPr marL="0" indent="0">
              <a:buNone/>
            </a:pP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27983939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5726-D96A-041D-EC20-6D17F48B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4574BB-4820-BAEE-FC87-3C63C2DA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566490"/>
            <a:ext cx="11533911" cy="7459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Non sempre abbiamo una funzione specifica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8B56446-4CA3-45B1-113E-49528ACF8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40" y="1312401"/>
            <a:ext cx="11294920" cy="49791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Le funzioni come TOTALYTD sono sicuramente utili, tuttavia imparando a usare direttamente CALCULATE non abbiamo limiti sulle implementazioni calcolabili. Ad esempio, con questa misura calcoliamo le somme progressive dall'inizio.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da Inizio = </a:t>
            </a:r>
          </a:p>
          <a:p>
            <a:pPr marL="0" indent="0">
              <a:buNone/>
            </a:pPr>
            <a:r>
              <a:rPr lang="it-IT" sz="2400" i="1" dirty="0"/>
              <a:t>    VAR Fine = MAX(</a:t>
            </a:r>
            <a:r>
              <a:rPr lang="it-IT" sz="2400" i="1" dirty="0" err="1"/>
              <a:t>tbl_Date</a:t>
            </a:r>
            <a:r>
              <a:rPr lang="it-IT" sz="2400" i="1" dirty="0"/>
              <a:t>[Date])</a:t>
            </a:r>
          </a:p>
          <a:p>
            <a:pPr marL="0" indent="0">
              <a:buNone/>
            </a:pPr>
            <a:r>
              <a:rPr lang="it-IT" sz="2400" i="1" dirty="0"/>
              <a:t>    VAR </a:t>
            </a:r>
            <a:r>
              <a:rPr lang="it-IT" sz="2400" i="1" dirty="0" err="1"/>
              <a:t>Result</a:t>
            </a:r>
            <a:r>
              <a:rPr lang="it-IT" sz="2400" i="1" dirty="0"/>
              <a:t> = CALCULATE(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</a:t>
            </a:r>
          </a:p>
          <a:p>
            <a:pPr marL="0" indent="0">
              <a:buNone/>
            </a:pPr>
            <a:r>
              <a:rPr lang="it-IT" sz="2400" i="1" dirty="0"/>
              <a:t>         </a:t>
            </a:r>
            <a:r>
              <a:rPr lang="it-IT" sz="2400" i="1" dirty="0" err="1"/>
              <a:t>tbl_Date</a:t>
            </a:r>
            <a:r>
              <a:rPr lang="it-IT" sz="2400" i="1" dirty="0"/>
              <a:t>[Date]&lt;=Fine</a:t>
            </a:r>
          </a:p>
          <a:p>
            <a:pPr marL="0" indent="0">
              <a:buNone/>
            </a:pPr>
            <a:r>
              <a:rPr lang="it-IT" sz="2400" i="1" dirty="0"/>
              <a:t>         )</a:t>
            </a:r>
          </a:p>
          <a:p>
            <a:pPr marL="0" indent="0">
              <a:buNone/>
            </a:pPr>
            <a:r>
              <a:rPr lang="it-IT" sz="2400" i="1" dirty="0"/>
              <a:t>    RETURN </a:t>
            </a:r>
            <a:r>
              <a:rPr lang="it-IT" sz="2400" i="1" dirty="0" err="1"/>
              <a:t>Result</a:t>
            </a:r>
            <a:endParaRPr lang="it-IT" sz="2400" i="1" dirty="0"/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41537279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11BB-772C-DF93-F508-10C5CEBF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BFA5E5-FD38-EB61-162E-F2FF05A7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Un caso particolare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FF5B5B-8111-1086-951A-D1451DA9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0630"/>
            <a:ext cx="11294920" cy="4464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Ecco un'altra utile funzione: </a:t>
            </a:r>
            <a:r>
              <a:rPr lang="it-IT" sz="2400" i="1" dirty="0"/>
              <a:t>SAMEPERIODLASTYEAR</a:t>
            </a:r>
            <a:endParaRPr lang="it-IT" sz="2400" dirty="0"/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Somma dello stesso periodo di anno precedente = </a:t>
            </a:r>
          </a:p>
          <a:p>
            <a:pPr marL="0" indent="0">
              <a:buNone/>
            </a:pPr>
            <a:r>
              <a:rPr lang="it-IT" sz="2400" i="1" dirty="0"/>
              <a:t>    VAR </a:t>
            </a:r>
            <a:r>
              <a:rPr lang="it-IT" sz="2400" i="1" dirty="0" err="1"/>
              <a:t>Result</a:t>
            </a:r>
            <a:r>
              <a:rPr lang="it-IT" sz="2400" i="1" dirty="0"/>
              <a:t> = </a:t>
            </a:r>
          </a:p>
          <a:p>
            <a:pPr marL="0" indent="0">
              <a:buNone/>
            </a:pPr>
            <a:r>
              <a:rPr lang="it-IT" sz="2400" i="1" dirty="0"/>
              <a:t>        CALCULATE(</a:t>
            </a:r>
          </a:p>
          <a:p>
            <a:pPr marL="0" indent="0">
              <a:buNone/>
            </a:pPr>
            <a:r>
              <a:rPr lang="it-IT" sz="2400" i="1" dirty="0"/>
              <a:t>    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[Importo]),</a:t>
            </a:r>
          </a:p>
          <a:p>
            <a:pPr marL="0" indent="0">
              <a:buNone/>
            </a:pPr>
            <a:r>
              <a:rPr lang="it-IT" sz="2400" i="1" dirty="0"/>
              <a:t>            SAMEPERIODLASTYEAR(</a:t>
            </a:r>
            <a:r>
              <a:rPr lang="it-IT" sz="2400" i="1" dirty="0" err="1"/>
              <a:t>tbl_Date</a:t>
            </a:r>
            <a:r>
              <a:rPr lang="it-IT" sz="2400" i="1" dirty="0"/>
              <a:t>[Date]))</a:t>
            </a:r>
          </a:p>
          <a:p>
            <a:pPr marL="0" indent="0">
              <a:buNone/>
            </a:pPr>
            <a:r>
              <a:rPr lang="it-IT" sz="2400" i="1" dirty="0"/>
              <a:t>    RETURN </a:t>
            </a:r>
            <a:r>
              <a:rPr lang="it-IT" sz="2400" i="1" dirty="0" err="1"/>
              <a:t>Result</a:t>
            </a:r>
            <a:endParaRPr lang="it-IT" sz="2400" i="1" dirty="0"/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13807898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60E7-E4EC-89FB-94B0-F5A2E15E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9B2003-25EF-44AA-B303-0F90F426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Risultati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07B79C1-6996-1FBB-A57F-41871D5D9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2" y="1540407"/>
            <a:ext cx="9960203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53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B512-C12F-3FE0-69BF-762DBD1D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F81490-FB11-3E0E-DF31-2D8654F0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5130428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TRANSIZIONE </a:t>
            </a:r>
            <a:br>
              <a:rPr lang="it-IT" sz="4800" b="1" dirty="0"/>
            </a:br>
            <a:r>
              <a:rPr lang="it-IT" sz="4800" b="1" dirty="0"/>
              <a:t>DEL CONTESTO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7CD15253-C5FE-2855-1FE1-4337E09C8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558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F34D-39DB-0DBB-9CD8-4315318D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FD255A-5B92-BE80-D0C0-74E43D57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TRANSIZIONE DI CONTESTO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B91BB69-3C40-D2FC-4BAD-C9BC02E6A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0630"/>
            <a:ext cx="11294920" cy="4464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funzione CALCULATE ha un altro importante effetto: trasformare il contesto di riga (come nel caso delle colonne calcolate) in un contesto di filtro.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Facciamo molta attenzione dunque nel caso una tabella abbia delle righe completamente duplicate.</a:t>
            </a:r>
            <a:endParaRPr lang="it-IT" sz="2000" dirty="0"/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3301054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469B-EC61-B68E-FA70-C23AC479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CFE56A-55E0-D3D7-2518-594B4059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ESEMPIO DI TRANSIZIONE DI CONTESTO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B7B22A5-0DF9-1CF9-AF03-CB77627A0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0630"/>
            <a:ext cx="11294920" cy="5228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Creiamo :</a:t>
            </a:r>
          </a:p>
          <a:p>
            <a:pPr marL="0" indent="0">
              <a:buNone/>
            </a:pPr>
            <a:r>
              <a:rPr lang="it-IT" sz="2400" dirty="0"/>
              <a:t>1) la colonne calcolata</a:t>
            </a:r>
          </a:p>
          <a:p>
            <a:pPr marL="0" indent="0">
              <a:buNone/>
            </a:pPr>
            <a:r>
              <a:rPr lang="en-US" sz="2400" i="1" dirty="0"/>
              <a:t>Colonna = SUM(</a:t>
            </a:r>
            <a:r>
              <a:rPr lang="en-US" sz="2400" i="1" dirty="0" err="1"/>
              <a:t>Tabella</a:t>
            </a:r>
            <a:r>
              <a:rPr lang="en-US" sz="2400" i="1" dirty="0"/>
              <a:t>[</a:t>
            </a:r>
            <a:r>
              <a:rPr lang="en-US" sz="2400" i="1" dirty="0" err="1"/>
              <a:t>Importo</a:t>
            </a:r>
            <a:r>
              <a:rPr lang="en-US" sz="2400" i="1" dirty="0"/>
              <a:t>])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dirty="0"/>
              <a:t>2) la </a:t>
            </a:r>
            <a:r>
              <a:rPr lang="en-US" sz="2400" dirty="0" err="1"/>
              <a:t>misura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Somma Colonna = SUM(</a:t>
            </a:r>
            <a:r>
              <a:rPr lang="en-US" sz="2400" i="1" dirty="0" err="1"/>
              <a:t>Tabella</a:t>
            </a:r>
            <a:r>
              <a:rPr lang="en-US" sz="2400" i="1" dirty="0"/>
              <a:t>[Colonna])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dirty="0"/>
              <a:t>3)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nuova</a:t>
            </a:r>
            <a:r>
              <a:rPr lang="en-US" sz="2400" dirty="0"/>
              <a:t> </a:t>
            </a:r>
            <a:r>
              <a:rPr lang="en-US" sz="2400" dirty="0" err="1"/>
              <a:t>colonna</a:t>
            </a:r>
            <a:r>
              <a:rPr lang="en-US" sz="2400" dirty="0"/>
              <a:t> </a:t>
            </a:r>
            <a:r>
              <a:rPr lang="en-US" sz="2400" dirty="0" err="1"/>
              <a:t>calcolata</a:t>
            </a:r>
            <a:endParaRPr lang="en-US" sz="2400" dirty="0"/>
          </a:p>
          <a:p>
            <a:pPr marL="0" indent="0">
              <a:buNone/>
            </a:pPr>
            <a:r>
              <a:rPr lang="it-IT" sz="2400" i="1" dirty="0"/>
              <a:t>Colonna2 = [Somma Colonna]</a:t>
            </a:r>
          </a:p>
          <a:p>
            <a:pPr marL="0" indent="0">
              <a:buNone/>
            </a:pP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10551027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4310-7EF1-E00D-ECB3-436C1FCD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1CFC0-BAB3-C326-D3CE-09DE0D2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i="0" kern="1200" dirty="0">
                <a:effectLst/>
                <a:latin typeface="+mj-lt"/>
                <a:ea typeface="+mj-ea"/>
                <a:cs typeface="+mj-cs"/>
              </a:rPr>
              <a:t>CALCULATE E MISURE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B6B35A5-C151-7A5B-2EEA-8521E2369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90630"/>
            <a:ext cx="11294920" cy="4464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Nota importante</a:t>
            </a:r>
            <a:r>
              <a:rPr lang="en-US" sz="2400" dirty="0"/>
              <a:t>: </a:t>
            </a:r>
            <a:r>
              <a:rPr lang="en-US" sz="2400" dirty="0" err="1"/>
              <a:t>scrivere</a:t>
            </a:r>
            <a:endParaRPr lang="en-US" sz="2400" dirty="0"/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it-IT" sz="2400" i="1" dirty="0"/>
              <a:t>Colonna2 = [Somma Colonna]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dirty="0"/>
              <a:t>dove </a:t>
            </a:r>
            <a:r>
              <a:rPr lang="it-IT" sz="2400" i="1" dirty="0"/>
              <a:t>Somma Colonna </a:t>
            </a:r>
            <a:r>
              <a:rPr lang="it-IT" sz="2400" dirty="0"/>
              <a:t>è una misura, è equivalente a scrivere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Colonna2 = CALCULATE([Somma Colonna])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24180280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E24F-F697-66A3-A311-AED08B57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AD1F1-72B7-A6DB-9BD2-E4D78FBA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Segnaposto contenuto 5">
            <a:extLst>
              <a:ext uri="{FF2B5EF4-FFF2-40B4-BE49-F238E27FC236}">
                <a16:creationId xmlns:a16="http://schemas.microsoft.com/office/drawing/2014/main" id="{B1A8929C-BC12-C9FD-C97A-40B8BE33F574}"/>
              </a:ext>
            </a:extLst>
          </p:cNvPr>
          <p:cNvSpPr txBox="1">
            <a:spLocks/>
          </p:cNvSpPr>
          <p:nvPr/>
        </p:nvSpPr>
        <p:spPr>
          <a:xfrm>
            <a:off x="303066" y="5749318"/>
            <a:ext cx="11294920" cy="745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egoe UI" panose="020B0502040204020203" pitchFamily="34" charset="0"/>
              <a:buNone/>
            </a:pPr>
            <a:r>
              <a:rPr lang="it-IT" dirty="0"/>
              <a:t>N.B. Se aggiungessi una terza colonna uguale andrebbe in errore</a:t>
            </a:r>
          </a:p>
          <a:p>
            <a:pPr marL="0" indent="0">
              <a:buFont typeface="Segoe UI" panose="020B0502040204020203" pitchFamily="34" charset="0"/>
              <a:buNone/>
            </a:pPr>
            <a:endParaRPr lang="it-IT" sz="2400" i="1" dirty="0" err="1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C8FBABD-2833-45DE-FE2C-407266882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25" y="2544446"/>
            <a:ext cx="6276801" cy="2910780"/>
          </a:xfrm>
          <a:prstGeom prst="rect">
            <a:avLst/>
          </a:prstGeom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D19FAA89-F459-3084-243A-98ADFE376D13}"/>
              </a:ext>
            </a:extLst>
          </p:cNvPr>
          <p:cNvSpPr txBox="1">
            <a:spLocks/>
          </p:cNvSpPr>
          <p:nvPr/>
        </p:nvSpPr>
        <p:spPr>
          <a:xfrm>
            <a:off x="448540" y="1504444"/>
            <a:ext cx="11294920" cy="745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egoe UI" panose="020B0502040204020203" pitchFamily="34" charset="0"/>
              <a:buNone/>
            </a:pPr>
            <a:r>
              <a:rPr lang="it-IT" dirty="0"/>
              <a:t>In colonna è presente sempre lo stesso risultato, invece su Colonna2 ci sono risultati uguali per righe uguali.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727688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D3F2-E98A-AE3A-26FA-2E3D2BB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FFEC0D-83E7-1D5A-26E5-031E69E6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1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47A615E-5ADE-3829-4F16-D63425757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2713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Il contesto di riga non riguarda soltanto le colonne calcolate. Ad esempio il secondo argomento di un X-Iterator è eseguito in un contesto di riga. 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In questo caso, senza CALCULATE la trasformazione </a:t>
            </a:r>
            <a:r>
              <a:rPr lang="it-IT" sz="2400" b="1" dirty="0"/>
              <a:t>non</a:t>
            </a:r>
            <a:r>
              <a:rPr lang="it-IT" sz="2400" dirty="0"/>
              <a:t> avviene!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Max Importo nel periodo Errato = </a:t>
            </a:r>
          </a:p>
          <a:p>
            <a:pPr marL="0" indent="0">
              <a:buNone/>
            </a:pPr>
            <a:r>
              <a:rPr lang="it-IT" sz="2400" i="1" dirty="0"/>
              <a:t>    MAXX(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tbl_Date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</a:t>
            </a:r>
          </a:p>
          <a:p>
            <a:pPr marL="0" indent="0">
              <a:buNone/>
            </a:pPr>
            <a:r>
              <a:rPr lang="it-IT" sz="2400" i="1" dirty="0"/>
              <a:t>    )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dirty="0"/>
              <a:t>RICORDA: CALCULATE è presente implicitamente quando uso una misura.  Scrivere </a:t>
            </a:r>
            <a:r>
              <a:rPr lang="it-IT" sz="2400" i="1" dirty="0"/>
              <a:t>[misura]</a:t>
            </a:r>
            <a:r>
              <a:rPr lang="it-IT" sz="2400" dirty="0"/>
              <a:t> è equivalente a scrivere </a:t>
            </a:r>
            <a:r>
              <a:rPr lang="it-IT" sz="2400" i="1" dirty="0"/>
              <a:t>CALCULATE([misura])</a:t>
            </a:r>
            <a:r>
              <a:rPr lang="it-IT" sz="2400" dirty="0"/>
              <a:t>. 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582429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D3DF-E579-3298-048A-F72BE6AC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7A9C60-9929-D05F-8569-D69F207B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Confrontiamo due misure – parte 2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A6233EB-4A96-E71F-3F99-73F39C9CB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271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Ora invece, nel secondo argomento di MAXX è presente CALCULATE. Dunque il contesto di riga su </a:t>
            </a:r>
            <a:r>
              <a:rPr lang="it-IT" sz="2400" i="1" dirty="0" err="1"/>
              <a:t>tbl_Date</a:t>
            </a:r>
            <a:r>
              <a:rPr lang="it-IT" sz="2400" i="1" dirty="0"/>
              <a:t> </a:t>
            </a:r>
            <a:r>
              <a:rPr lang="it-IT" sz="2400" dirty="0"/>
              <a:t>è trasformato in un contesto di filtro per calcolare soltanto gli importi relativi a quella data. </a:t>
            </a:r>
          </a:p>
          <a:p>
            <a:pPr marL="0" indent="0">
              <a:buNone/>
            </a:pPr>
            <a:endParaRPr lang="it-IT" sz="2400" i="1" dirty="0"/>
          </a:p>
          <a:p>
            <a:pPr marL="0" indent="0">
              <a:buNone/>
            </a:pPr>
            <a:r>
              <a:rPr lang="it-IT" sz="2400" i="1" dirty="0"/>
              <a:t>Max Importo nel periodo = </a:t>
            </a:r>
          </a:p>
          <a:p>
            <a:pPr marL="0" indent="0">
              <a:buNone/>
            </a:pPr>
            <a:r>
              <a:rPr lang="it-IT" sz="2400" i="1" dirty="0"/>
              <a:t>    MAXX(</a:t>
            </a:r>
          </a:p>
          <a:p>
            <a:pPr marL="0" indent="0">
              <a:buNone/>
            </a:pPr>
            <a:r>
              <a:rPr lang="it-IT" sz="2400" i="1" dirty="0"/>
              <a:t>        </a:t>
            </a:r>
            <a:r>
              <a:rPr lang="it-IT" sz="2400" i="1" dirty="0" err="1"/>
              <a:t>tbl_Date</a:t>
            </a:r>
            <a:r>
              <a:rPr lang="it-IT" sz="2400" i="1" dirty="0"/>
              <a:t>,</a:t>
            </a:r>
          </a:p>
          <a:p>
            <a:pPr marL="0" indent="0">
              <a:buNone/>
            </a:pPr>
            <a:r>
              <a:rPr lang="it-IT" sz="2400" i="1" dirty="0"/>
              <a:t>        CALCULATE(SUM(</a:t>
            </a:r>
            <a:r>
              <a:rPr lang="it-IT" sz="2400" i="1" dirty="0" err="1"/>
              <a:t>tbl_Fatture</a:t>
            </a:r>
            <a:r>
              <a:rPr lang="it-IT" sz="2400" i="1" dirty="0"/>
              <a:t>[Importo])))</a:t>
            </a:r>
          </a:p>
          <a:p>
            <a:pPr marL="0" indent="0">
              <a:buNone/>
            </a:pPr>
            <a:endParaRPr lang="it-IT" sz="2400" i="1" dirty="0" err="1"/>
          </a:p>
        </p:txBody>
      </p:sp>
    </p:spTree>
    <p:extLst>
      <p:ext uri="{BB962C8B-B14F-4D97-AF65-F5344CB8AC3E}">
        <p14:creationId xmlns:p14="http://schemas.microsoft.com/office/powerpoint/2010/main" val="6052004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539B-2E6E-37DB-059E-C8F7A468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0ED4E-3514-A01C-3500-148326FD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7909808-8FA5-3721-DD0C-E9FD84494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38" y="1561641"/>
            <a:ext cx="5578323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386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0187-548F-FE58-716F-056878962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CE60FC-6FFE-B742-850F-8046D43A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27" y="1585732"/>
            <a:ext cx="5130428" cy="2097067"/>
          </a:xfrm>
        </p:spPr>
        <p:txBody>
          <a:bodyPr>
            <a:normAutofit/>
          </a:bodyPr>
          <a:lstStyle/>
          <a:p>
            <a:r>
              <a:rPr lang="it-IT" sz="4800" b="1" dirty="0"/>
              <a:t>Extra</a:t>
            </a:r>
            <a:endParaRPr lang="en-US" sz="4800" dirty="0"/>
          </a:p>
        </p:txBody>
      </p:sp>
      <p:pic>
        <p:nvPicPr>
          <p:cNvPr id="3" name="Graphic 6" descr="Puzzle">
            <a:extLst>
              <a:ext uri="{FF2B5EF4-FFF2-40B4-BE49-F238E27FC236}">
                <a16:creationId xmlns:a16="http://schemas.microsoft.com/office/drawing/2014/main" id="{049B2293-560A-DEB2-BBEE-76F1BEF88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3005" y="575425"/>
            <a:ext cx="5749175" cy="574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349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72F2-FF60-0138-E9EE-57403FFE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98547D-3105-F76E-A706-B2B724AA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Switch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C47AD37-85FD-F748-0114-06BF08C55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271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i="1" dirty="0" err="1"/>
              <a:t>TipologiaFattura</a:t>
            </a:r>
            <a:r>
              <a:rPr lang="it-IT" sz="2400" i="1" dirty="0"/>
              <a:t> = SWITCH(TRUE,</a:t>
            </a:r>
          </a:p>
          <a:p>
            <a:pPr marL="0" indent="0">
              <a:buNone/>
            </a:pPr>
            <a:r>
              <a:rPr lang="it-IT" sz="2400" i="1" dirty="0"/>
              <a:t>                         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&gt; 8, "Alto",</a:t>
            </a:r>
          </a:p>
          <a:p>
            <a:pPr marL="0" indent="0">
              <a:buNone/>
            </a:pPr>
            <a:r>
              <a:rPr lang="it-IT" sz="2400" i="1" dirty="0"/>
              <a:t>                         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 &gt; 4, "Medio",</a:t>
            </a:r>
          </a:p>
          <a:p>
            <a:pPr marL="0" indent="0">
              <a:buNone/>
            </a:pPr>
            <a:r>
              <a:rPr lang="it-IT" sz="2400" i="1" dirty="0"/>
              <a:t>                          </a:t>
            </a:r>
            <a:r>
              <a:rPr lang="it-IT" sz="2400" i="1" dirty="0" err="1"/>
              <a:t>tbl_Fatture</a:t>
            </a:r>
            <a:r>
              <a:rPr lang="it-IT" sz="2400" i="1" dirty="0"/>
              <a:t>[Importo] &gt; 0, "Basso",</a:t>
            </a:r>
          </a:p>
          <a:p>
            <a:pPr marL="0" indent="0">
              <a:buNone/>
            </a:pPr>
            <a:r>
              <a:rPr lang="it-IT" sz="2400" i="1" dirty="0"/>
              <a:t>                          "N/D")</a:t>
            </a:r>
          </a:p>
        </p:txBody>
      </p:sp>
    </p:spTree>
    <p:extLst>
      <p:ext uri="{BB962C8B-B14F-4D97-AF65-F5344CB8AC3E}">
        <p14:creationId xmlns:p14="http://schemas.microsoft.com/office/powerpoint/2010/main" val="15253860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8563-9874-4BA6-F144-B48E65BF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AD7E2-4863-32EF-75A8-50652B7D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0599577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IF 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7676BA9-DC64-BFEE-A68B-8696FFAC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83" y="1399598"/>
            <a:ext cx="10896602" cy="5271366"/>
          </a:xfrm>
        </p:spPr>
        <p:txBody>
          <a:bodyPr>
            <a:normAutofit/>
          </a:bodyPr>
          <a:lstStyle/>
          <a:p>
            <a:pPr marL="0" indent="0">
              <a:buClr>
                <a:schemeClr val="tx2"/>
              </a:buClr>
              <a:buNone/>
            </a:pPr>
            <a:r>
              <a:rPr lang="it-IT" sz="2400" dirty="0"/>
              <a:t>Testiamo l'IF in casi specifici che coinvolgono zero e blank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it-IT" sz="24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/>
              <a:t>Col1 = IF(</a:t>
            </a:r>
            <a:r>
              <a:rPr lang="it-IT" sz="2400" dirty="0" err="1"/>
              <a:t>TBL_Fatture</a:t>
            </a:r>
            <a:r>
              <a:rPr lang="it-IT" sz="2400" dirty="0"/>
              <a:t>[Importo]==0 ,"</a:t>
            </a:r>
            <a:r>
              <a:rPr lang="it-IT" sz="2400" dirty="0" err="1"/>
              <a:t>zero","non</a:t>
            </a:r>
            <a:r>
              <a:rPr lang="it-IT" sz="2400" dirty="0"/>
              <a:t> zero")</a:t>
            </a:r>
          </a:p>
          <a:p>
            <a:pPr marL="0" indent="0">
              <a:buClr>
                <a:schemeClr val="tx2"/>
              </a:buClr>
              <a:buNone/>
            </a:pPr>
            <a:endParaRPr lang="it-IT" sz="12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/>
              <a:t>Col2 = </a:t>
            </a:r>
            <a:r>
              <a:rPr lang="en-US" sz="2400" dirty="0"/>
              <a:t>IF(ISBLANK(</a:t>
            </a:r>
            <a:r>
              <a:rPr lang="en-US" sz="2400" dirty="0" err="1"/>
              <a:t>TBL_Fatture</a:t>
            </a:r>
            <a:r>
              <a:rPr lang="en-US" sz="2400" dirty="0"/>
              <a:t>[</a:t>
            </a:r>
            <a:r>
              <a:rPr lang="en-US" sz="2400" dirty="0" err="1"/>
              <a:t>Importo</a:t>
            </a:r>
            <a:r>
              <a:rPr lang="en-US" sz="2400" dirty="0"/>
              <a:t>]) ,"</a:t>
            </a:r>
            <a:r>
              <a:rPr lang="en-US" sz="2400" dirty="0" err="1"/>
              <a:t>blank","non</a:t>
            </a:r>
            <a:r>
              <a:rPr lang="en-US" sz="2400" dirty="0"/>
              <a:t> blank")</a:t>
            </a:r>
          </a:p>
          <a:p>
            <a:pPr marL="0" indent="0">
              <a:buClr>
                <a:schemeClr val="tx2"/>
              </a:buClr>
              <a:buNone/>
            </a:pPr>
            <a:endParaRPr lang="en-US" sz="1200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it-IT" sz="2400" dirty="0"/>
              <a:t>Col3 = IF(</a:t>
            </a:r>
            <a:r>
              <a:rPr lang="it-IT" sz="2400" dirty="0" err="1"/>
              <a:t>TBL_Fatture</a:t>
            </a:r>
            <a:r>
              <a:rPr lang="it-IT" sz="2400" dirty="0"/>
              <a:t>[Importo]=0 ,"zero o </a:t>
            </a:r>
            <a:r>
              <a:rPr lang="it-IT" sz="2400" dirty="0" err="1"/>
              <a:t>blank","non</a:t>
            </a:r>
            <a:r>
              <a:rPr lang="it-IT" sz="2400" dirty="0"/>
              <a:t> zero")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DDA760A-3F97-1DDD-5B04-038CB0DCF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384" y="2392590"/>
            <a:ext cx="2667231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899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A5A3-A17B-5CE3-9E85-AFDF31FC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D7CA9-8558-CF33-146A-4376E6D8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6490"/>
            <a:ext cx="11286262" cy="74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Risultato</a:t>
            </a:r>
            <a:endParaRPr lang="en-US" b="1" i="0" kern="1200" dirty="0"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121C3D2-04E4-B2D3-246B-DE73F86D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362" y="1997478"/>
            <a:ext cx="5115393" cy="397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0806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97F"/>
      </a:accent2>
      <a:accent3>
        <a:srgbClr val="AAA480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3801</Words>
  <Application>Microsoft Office PowerPoint</Application>
  <PresentationFormat>Widescreen</PresentationFormat>
  <Paragraphs>536</Paragraphs>
  <Slides>84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84</vt:i4>
      </vt:variant>
    </vt:vector>
  </HeadingPairs>
  <TitlesOfParts>
    <vt:vector size="91" baseType="lpstr">
      <vt:lpstr>Arial</vt:lpstr>
      <vt:lpstr>Calibri</vt:lpstr>
      <vt:lpstr>Courier New</vt:lpstr>
      <vt:lpstr>Open sans</vt:lpstr>
      <vt:lpstr>Segoe UI</vt:lpstr>
      <vt:lpstr>Wingdings</vt:lpstr>
      <vt:lpstr>MinimalXOVTI</vt:lpstr>
      <vt:lpstr> Power BI </vt:lpstr>
      <vt:lpstr>Cos'è Power BI?</vt:lpstr>
      <vt:lpstr>Primi esempi  di uso di DAX</vt:lpstr>
      <vt:lpstr>Acquisizione dati</vt:lpstr>
      <vt:lpstr>Visualizzazione Tabella</vt:lpstr>
      <vt:lpstr>Primi passi con DAX</vt:lpstr>
      <vt:lpstr>Proviamo a creare altre colonne</vt:lpstr>
      <vt:lpstr>Possiamo creare anche altre tabelle</vt:lpstr>
      <vt:lpstr>Creiamo una tabella Calendar</vt:lpstr>
      <vt:lpstr>Creiamo la nostra prima visualizzazione</vt:lpstr>
      <vt:lpstr>Grafico a linee</vt:lpstr>
      <vt:lpstr>Misure implicite</vt:lpstr>
      <vt:lpstr>Creiamo lo stesso grafico usando una misura – parte 1</vt:lpstr>
      <vt:lpstr>Creiamo lo stesso grafico usando una misura – parte 2</vt:lpstr>
      <vt:lpstr>Creiamo lo stesso grafico usando una misura – parte 3</vt:lpstr>
      <vt:lpstr>Creiamo una scheda</vt:lpstr>
      <vt:lpstr>Creiamo la misura corretta</vt:lpstr>
      <vt:lpstr>Creiamo la scheda con la misura corretta</vt:lpstr>
      <vt:lpstr>Elementi testuali con le misure</vt:lpstr>
      <vt:lpstr>Configuriamo una scheda con la misura testuale</vt:lpstr>
      <vt:lpstr>X-ITERATORS</vt:lpstr>
      <vt:lpstr>Creiamo una colonna calcolata</vt:lpstr>
      <vt:lpstr>Facciamo a meno della colonna calcolata</vt:lpstr>
      <vt:lpstr>La funzione SUMX</vt:lpstr>
      <vt:lpstr>Contesto di filtro e contesto di riga</vt:lpstr>
      <vt:lpstr>SUM è un caso particolare di SUMX</vt:lpstr>
      <vt:lpstr>Somma fatture alte</vt:lpstr>
      <vt:lpstr>FILTER all'interno di SUMX</vt:lpstr>
      <vt:lpstr>Divisione tra due misure</vt:lpstr>
      <vt:lpstr>Accenno a CALCULATE</vt:lpstr>
      <vt:lpstr>Confrontiamo due misure – parte 1</vt:lpstr>
      <vt:lpstr>Confrontiamo due misure – parte 2</vt:lpstr>
      <vt:lpstr>Risultato</vt:lpstr>
      <vt:lpstr>Percentuale sul totale – nuovo uso di ALL</vt:lpstr>
      <vt:lpstr>Chiarimento su ALL</vt:lpstr>
      <vt:lpstr>Risultato</vt:lpstr>
      <vt:lpstr>Inseriamo uno slicer</vt:lpstr>
      <vt:lpstr>Modifichiamo ALL con ALLSELECTED</vt:lpstr>
      <vt:lpstr>Confrontiamo due misure – parte 1</vt:lpstr>
      <vt:lpstr>Confrontiamo due misure – parte 2</vt:lpstr>
      <vt:lpstr>Risultato</vt:lpstr>
      <vt:lpstr>ALL(colonna)</vt:lpstr>
      <vt:lpstr>Funzione RELATED</vt:lpstr>
      <vt:lpstr>CALCULATE</vt:lpstr>
      <vt:lpstr>Primi passi con CALCULATE</vt:lpstr>
      <vt:lpstr>Come lavora CALCULATE</vt:lpstr>
      <vt:lpstr>Modo equivalente (più lungo)</vt:lpstr>
      <vt:lpstr>Qual è la differenza rispetto alla misura con filter?</vt:lpstr>
      <vt:lpstr>Aggiungiamo uno slicer sull'importo</vt:lpstr>
      <vt:lpstr>Utilizzo di KEEPFILTERS</vt:lpstr>
      <vt:lpstr>Riscriviamo il calcolo della percentuale sul totale</vt:lpstr>
      <vt:lpstr>Riscriviamo il calcolo del fornitore 1</vt:lpstr>
      <vt:lpstr>MODIFICATORI IN CALCULATE</vt:lpstr>
      <vt:lpstr>Creiamo una Data Table</vt:lpstr>
      <vt:lpstr>Contrassegniamola come tabella data</vt:lpstr>
      <vt:lpstr>Creiamo due relazioni con la tbl_Fatture</vt:lpstr>
      <vt:lpstr>Utilizziamo la relazione non attiva</vt:lpstr>
      <vt:lpstr>Confrontiamo tre misure</vt:lpstr>
      <vt:lpstr>Risultati</vt:lpstr>
      <vt:lpstr>ALTRI ESEMPI</vt:lpstr>
      <vt:lpstr>Percentuali sul totale</vt:lpstr>
      <vt:lpstr>Percentuali sul totale padre</vt:lpstr>
      <vt:lpstr>Percentuali sul totale padre con ISINSCOPE</vt:lpstr>
      <vt:lpstr>Risultati</vt:lpstr>
      <vt:lpstr>TIME INTELLIGENCE</vt:lpstr>
      <vt:lpstr>Somma in un intervallo specifico</vt:lpstr>
      <vt:lpstr>Somma da inizio anno</vt:lpstr>
      <vt:lpstr>Usiamo TOTALYTD</vt:lpstr>
      <vt:lpstr>Non visualizziamo il dato per i mesi senza fatture</vt:lpstr>
      <vt:lpstr>Non sempre abbiamo una funzione specifica</vt:lpstr>
      <vt:lpstr>Un caso particolare</vt:lpstr>
      <vt:lpstr>Risultati</vt:lpstr>
      <vt:lpstr>TRANSIZIONE  DEL CONTESTO</vt:lpstr>
      <vt:lpstr>TRANSIZIONE DI CONTESTO</vt:lpstr>
      <vt:lpstr>ESEMPIO DI TRANSIZIONE DI CONTESTO</vt:lpstr>
      <vt:lpstr>CALCULATE E MISURE</vt:lpstr>
      <vt:lpstr>Risultato</vt:lpstr>
      <vt:lpstr>Confrontiamo due misure – parte 1</vt:lpstr>
      <vt:lpstr>Confrontiamo due misure – parte 2</vt:lpstr>
      <vt:lpstr>Risultato</vt:lpstr>
      <vt:lpstr>Extra</vt:lpstr>
      <vt:lpstr>Switch</vt:lpstr>
      <vt:lpstr>IF </vt:lpstr>
      <vt:lpstr>Risultato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Power BI</dc:title>
  <dc:creator>Nicola Iantomasi</dc:creator>
  <cp:lastModifiedBy>Nicola A</cp:lastModifiedBy>
  <cp:revision>106</cp:revision>
  <dcterms:created xsi:type="dcterms:W3CDTF">2023-06-20T13:50:24Z</dcterms:created>
  <dcterms:modified xsi:type="dcterms:W3CDTF">2026-01-24T08:10:02Z</dcterms:modified>
</cp:coreProperties>
</file>